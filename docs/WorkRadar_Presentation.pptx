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0dcd67-b075-4690-334c-94317ccc8b3f}">
          <p14:sldIdLst>
            <p14:sldId id="256"/>
          </p14:sldIdLst>
        </p14:section>
        <p14:section name="Problem and users" id="{22bb58b6-e02d-f74c-f8c8-b331eb0b971f}">
          <p14:sldIdLst>
            <p14:sldId id="257"/>
            <p14:sldId id="258"/>
          </p14:sldIdLst>
        </p14:section>
        <p14:section name="Solution" id="{4be72ea9-cdad-86ae-a693-f01b51537a86}">
          <p14:sldIdLst>
            <p14:sldId id="259"/>
            <p14:sldId id="260"/>
            <p14:sldId id="261"/>
          </p14:sldIdLst>
        </p14:section>
        <p14:section name="MVP" id="{013e2dd7-501e-4836-703a-62f02782bd4f}">
          <p14:sldIdLst>
            <p14:sldId id="262"/>
            <p14:sldId id="263"/>
          </p14:sldIdLst>
        </p14:section>
        <p14:section name="Measuring and prioritising" id="{4b56c8b2-6862-6fa6-8de8-c4a506d3b011}">
          <p14:sldIdLst>
            <p14:sldId id="264"/>
            <p14:sldId id="265"/>
          </p14:sldIdLst>
        </p14:section>
        <p14:section name="AI workflow and next steps" id="{53c87f00-94d0-c43c-77ab-3e228f284c0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Done</c:v>
                </c:pt>
              </c:strCache>
            </c:strRef>
          </c:tx>
          <c:spPr>
            <a:solidFill>
              <a:schemeClr val="accent1"/>
            </a:solidFill>
            <a:ln w="9525" cap="flat">
              <a:solidFill>
                <a:srgbClr val="F9F9F9"/>
              </a:solidFill>
              <a:prstDash val="solid"/>
              <a:round/>
            </a:ln>
            <a:effectLst/>
          </c:spPr>
          <c:dPt>
            <c:idx val="0"/>
            <c:bubble3D val="0"/>
            <c:spPr>
              <a:solidFill>
                <a:srgbClr val="0F766E"/>
              </a:solidFill>
              <a:ln w="9525" cap="flat">
                <a:solidFill>
                  <a:srgbClr val="FFFFFF"/>
                </a:solidFill>
                <a:prstDash val="solid"/>
                <a:round/>
              </a:ln>
              <a:effectLst/>
            </c:spPr>
          </c:dPt>
          <c:dPt>
            <c:idx val="1"/>
            <c:bubble3D val="0"/>
            <c:spPr>
              <a:solidFill>
                <a:srgbClr val="D7E5E2"/>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Closed</c:v>
                </c:pt>
                <c:pt idx="1">
                  <c:v>Open</c:v>
                </c:pt>
              </c:strCache>
            </c:strRef>
          </c:cat>
          <c:val>
            <c:numRef>
              <c:f>Sheet1!$B$2:$B$3</c:f>
              <c:numCache>
                <c:ptCount val="2"/>
                <c:pt idx="0">
                  <c:v>82</c:v>
                </c:pt>
                <c:pt idx="1">
                  <c:v>18</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Hi, I'm Gopi Krishna from Cohort 40 of the AIR Tribe AI Product Management program. This is WorkRadar: one ranked radar that brings everything needing a product manager's attention from Slack, Jira, GitHub, Gmail and Calendar into a single prioritised list, with every item linking back to the original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The problem: a startup PM coordinates with up to 50 people across five tools. Research shows a worker gets about 117 emails and 153 chat messages a day, is interrupted 275 times, and switches apps around 1,200 times. The few items that really need the PM — a blocker, an approval, an escalation — are buried and found late. Every morning the PM has to answer these four questions alone, and it takes one to two hours of scrolling.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[1:00–1:35] I built it first for one user: Priya, a product manager at a 50-person startup. She coordinates anywhere from 5 to 50 people a day, so I designed for the busiest day. It's B2B — the founder or CTO buys it. Sized on PMs alone, the serviceable market is about 50 million dollars a year; a realistic three-year share is half a million to a million in ARR, with 50 to 250-person scale-ups as the next beachhead.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Discovery: I broke down what Slack, Jira, GitHub and email each do. They look different, but the PM does the same seven jobs in all of them: answer asks, clear blockers, approve, schedule, handle escalations, track updates, and ignore noise. That led to the key decision: don't replace any tool — nobody can make a whole company switch. WorkRadar aggregates and links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[2:10–2:50] Five decisions shaped the product. It's a radar, not a reader: each item is one line — who, what, why and by when. Every item links to the exact message so the PM replies in the original tool. Teams can tag @pm blocker, decision or sync, which is far more reliable than AI guessing from chat. It only reads what's addressed to the PM and never stores message bodies. And nothing is deleted — every action can be undone.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[2:50–3:25] Ranking is a transparent formula, not a black box: type plus urgency plus who sent it plus how long it has waited plus what it blocks, capped at 100. Seventy or more is P1, 40 to 69 is P2, below 40 is P3 and collapsed. Rahul's blocker scores 73, so it's P1. The two biggest parts appear as the 'why' on every row — that's what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[3:25–4:10] Here's the live MVP. One screen answers all four questions. The AI brief at the top gives the day in 30 seconds — and if AI is down, it falls back to a rule-based summary. The ring shows done for the day: priority items closed versus due, green at 80 percent. Below are the ranked priorities with a reason and source link, and on the right the calendar with meeting dots and who's blocked. [If presenting live: open the app, click Generate with AI, then open a P1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[4:10–4:45] All the required screens work: the Radar with filters and five sort orders, the item detail with the score breakdown and AI notes, the calendar with hover details and free slots, team health, the Activity Log where every action can be undone or restored, and integrations — including demo controls that simulate a Jira or AI outage to show how the app degrades safely. Assign, Mark Done and Snooze all work with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[4:45–5:15] How we measure success: the North Star is time to daily clarity — under five minutes, down from an hour. The daily outcome is 'done for the day': priority items closed versus due, green at 80 percent. Leading metrics track whether P1s get opened fast and whether teams use the tags; guardrails make sure we never miss a P1, never become another inbox, and never create a privacy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[5:15–5:40] Prioritisation: I converged Kano, RICE, impact-versus-effort and MoSCoW. The MVP ships the must-haves — the ranked radar, blocked panel, calendar, AI brief with fallback, actions with undo. Version 2 brings live read-only connectors and write-back to Jira and GitHub. The highest RICE scores were exact-message links and the 'why ranked' reason — cheap to build and core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[5:40–6:15] On the AI workflow: I used Claude as guide and builder for research, strategy, the PRD, the UX spec and the MVP code, plus Google Stitch for the screens. AI was fast, but the product calls were mine. I changed the user from an engineering manager to a startup PM, replaced 'AI summarises everything' with a privacy-safe radar that links out, swapped AI blocker-guessing for simple team tags, designed for the busiest day, and added undo with a no-delete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[6:15–6:40] Next steps: the MVP proves the experience with mock data. Version 2 pilots with one startup on live, read-only data, and only moves forward when time to clarity is under five minutes and missed P1s are under five percent. Version 3 scales to larger teams. Thank you — I'm Gopi Krishna, Cohort 40, AIR Tribe AIPM.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9FC9C2"/>
                </a:solidFill>
              </a:rPr>
              <a:t>Gopi Krishna  ·  Cohort 40  ·  AIR Tribe  ·  AI Product Management (AIPM)</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9C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82512"/>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Gopi Krishna  ·  Cohort 40  ·  AIR Tribe  ·  AI Product Management (AIPM)</a:t>
            </a:r>
            <a:endParaRPr lang="en-US" sz="10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9C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adar ring 1"/>
          <p:cNvSpPr/>
          <p:nvPr/>
        </p:nvSpPr>
        <p:spPr>
          <a:xfrm>
            <a:off x="8046720" y="1051560"/>
            <a:ext cx="3749040" cy="3749040"/>
          </a:xfrm>
          <a:prstGeom prst="ellipse">
            <a:avLst/>
          </a:prstGeom>
          <a:ln w="31750">
            <a:solidFill>
              <a:schemeClr val="accent3">
                <a:alpha val="65000"/>
              </a:schemeClr>
            </a:solidFill>
            <a:prstDash val="solid"/>
          </a:ln>
        </p:spPr>
      </p:sp>
      <p:sp>
        <p:nvSpPr>
          <p:cNvPr id="3" name="radar ring 2"/>
          <p:cNvSpPr/>
          <p:nvPr/>
        </p:nvSpPr>
        <p:spPr>
          <a:xfrm>
            <a:off x="8571586" y="1576426"/>
            <a:ext cx="2699309" cy="2699309"/>
          </a:xfrm>
          <a:prstGeom prst="ellipse">
            <a:avLst/>
          </a:prstGeom>
          <a:ln w="19050">
            <a:solidFill>
              <a:schemeClr val="accent3">
                <a:alpha val="53000"/>
              </a:schemeClr>
            </a:solidFill>
            <a:prstDash val="solid"/>
          </a:ln>
        </p:spPr>
      </p:sp>
      <p:sp>
        <p:nvSpPr>
          <p:cNvPr id="4" name="radar ring 3"/>
          <p:cNvSpPr/>
          <p:nvPr/>
        </p:nvSpPr>
        <p:spPr>
          <a:xfrm>
            <a:off x="9096451" y="2101291"/>
            <a:ext cx="1649578" cy="1649578"/>
          </a:xfrm>
          <a:prstGeom prst="ellipse">
            <a:avLst/>
          </a:prstGeom>
          <a:ln w="19050">
            <a:solidFill>
              <a:schemeClr val="accent3">
                <a:alpha val="41000"/>
              </a:schemeClr>
            </a:solidFill>
            <a:prstDash val="solid"/>
          </a:ln>
        </p:spPr>
      </p:sp>
      <p:sp>
        <p:nvSpPr>
          <p:cNvPr id="5" name="radar sweep"/>
          <p:cNvSpPr/>
          <p:nvPr/>
        </p:nvSpPr>
        <p:spPr>
          <a:xfrm flipV="1">
            <a:off x="9921240" y="1763878"/>
            <a:ext cx="1162202" cy="1162202"/>
          </a:xfrm>
          <a:prstGeom prst="line">
            <a:avLst/>
          </a:prstGeom>
          <a:noFill/>
          <a:ln w="31750">
            <a:solidFill>
              <a:schemeClr val="accent3">
                <a:alpha val="65000"/>
              </a:schemeClr>
            </a:solidFill>
            <a:prstDash val="solid"/>
          </a:ln>
        </p:spPr>
      </p:sp>
      <p:sp>
        <p:nvSpPr>
          <p:cNvPr id="6" name="radar blip"/>
          <p:cNvSpPr/>
          <p:nvPr/>
        </p:nvSpPr>
        <p:spPr>
          <a:xfrm>
            <a:off x="10483596" y="3151022"/>
            <a:ext cx="201168" cy="201168"/>
          </a:xfrm>
          <a:prstGeom prst="ellipse">
            <a:avLst/>
          </a:prstGeom>
          <a:solidFill>
            <a:schemeClr val="accent2"/>
          </a:solidFill>
          <a:ln/>
        </p:spPr>
      </p:sp>
      <p:sp>
        <p:nvSpPr>
          <p:cNvPr id="7" name="Text 5"/>
          <p:cNvSpPr txBox="1"/>
          <p:nvPr/>
        </p:nvSpPr>
        <p:spPr>
          <a:xfrm>
            <a:off x="640080" y="1051560"/>
            <a:ext cx="7315200" cy="320040"/>
          </a:xfrm>
          <a:prstGeom prst="rect">
            <a:avLst/>
          </a:prstGeom>
          <a:noFill/>
          <a:ln/>
        </p:spPr>
        <p:txBody>
          <a:bodyPr wrap="square" lIns="0" tIns="0" rIns="0" bIns="0" rtlCol="0" anchor="t"/>
          <a:lstStyle/>
          <a:p>
            <a:pPr indent="0" marL="0">
              <a:buNone/>
            </a:pPr>
            <a:r>
              <a:rPr lang="en-US" sz="1300" b="1" spc="300" kern="0" dirty="0">
                <a:solidFill>
                  <a:schemeClr val="accent2"/>
                </a:solidFill>
              </a:rPr>
              <a:t>AI PRODUCT MANAGEMENT · CAPSTONE PROJECT</a:t>
            </a:r>
            <a:endParaRPr lang="en-US" sz="1300" dirty="0"/>
          </a:p>
        </p:txBody>
      </p:sp>
      <p:sp>
        <p:nvSpPr>
          <p:cNvPr id="8" name="Text 6"/>
          <p:cNvSpPr txBox="1"/>
          <p:nvPr/>
        </p:nvSpPr>
        <p:spPr>
          <a:xfrm>
            <a:off x="640080" y="1463040"/>
            <a:ext cx="7315200" cy="109728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WorkRadar</a:t>
            </a:r>
            <a:endParaRPr lang="en-US" sz="6600" dirty="0"/>
          </a:p>
        </p:txBody>
      </p:sp>
      <p:sp>
        <p:nvSpPr>
          <p:cNvPr id="9" name="Text 7"/>
          <p:cNvSpPr txBox="1"/>
          <p:nvPr/>
        </p:nvSpPr>
        <p:spPr>
          <a:xfrm>
            <a:off x="640080" y="2651760"/>
            <a:ext cx="6766560" cy="914400"/>
          </a:xfrm>
          <a:prstGeom prst="rect">
            <a:avLst/>
          </a:prstGeom>
          <a:noFill/>
          <a:ln/>
        </p:spPr>
        <p:txBody>
          <a:bodyPr wrap="square" lIns="0" tIns="0" rIns="0" bIns="0" rtlCol="0" anchor="t"/>
          <a:lstStyle/>
          <a:p>
            <a:pPr indent="0" marL="0">
              <a:buNone/>
            </a:pPr>
            <a:r>
              <a:rPr lang="en-US" sz="2400" dirty="0">
                <a:solidFill>
                  <a:schemeClr val="accent3"/>
                </a:solidFill>
              </a:rPr>
              <a:t>One ranked radar for everything that needs the product manager</a:t>
            </a:r>
            <a:endParaRPr lang="en-US" sz="2400" dirty="0"/>
          </a:p>
        </p:txBody>
      </p:sp>
      <p:sp>
        <p:nvSpPr>
          <p:cNvPr id="10" name="Text 8"/>
          <p:cNvSpPr txBox="1"/>
          <p:nvPr/>
        </p:nvSpPr>
        <p:spPr>
          <a:xfrm>
            <a:off x="640080" y="3611880"/>
            <a:ext cx="6949440" cy="548640"/>
          </a:xfrm>
          <a:prstGeom prst="rect">
            <a:avLst/>
          </a:prstGeom>
          <a:noFill/>
          <a:ln/>
        </p:spPr>
        <p:txBody>
          <a:bodyPr wrap="square" lIns="0" tIns="0" rIns="0" bIns="0" rtlCol="0" anchor="t"/>
          <a:lstStyle/>
          <a:p>
            <a:pPr indent="0" marL="0">
              <a:buNone/>
            </a:pPr>
            <a:r>
              <a:rPr lang="en-US" sz="1500" dirty="0">
                <a:solidFill>
                  <a:srgbClr val="C7DDD9"/>
                </a:solidFill>
              </a:rPr>
              <a:t>Slack · Jira · GitHub · Gmail · Calendar  →  one prioritised list that links back to the source</a:t>
            </a:r>
            <a:endParaRPr lang="en-US" sz="1500" dirty="0"/>
          </a:p>
        </p:txBody>
      </p:sp>
      <p:sp>
        <p:nvSpPr>
          <p:cNvPr id="11" name="Text 9"/>
          <p:cNvSpPr txBox="1"/>
          <p:nvPr/>
        </p:nvSpPr>
        <p:spPr>
          <a:xfrm>
            <a:off x="640080" y="4846320"/>
            <a:ext cx="7315200" cy="822960"/>
          </a:xfrm>
          <a:prstGeom prst="rect">
            <a:avLst/>
          </a:prstGeom>
          <a:noFill/>
          <a:ln/>
        </p:spPr>
        <p:txBody>
          <a:bodyPr wrap="square" lIns="0" tIns="0" rIns="0" bIns="0" rtlCol="0" anchor="t"/>
          <a:lstStyle/>
          <a:p>
            <a:pPr indent="0" marL="0">
              <a:buNone/>
            </a:pPr>
            <a:r>
              <a:rPr lang="en-US" sz="2200" b="1" dirty="0">
                <a:solidFill>
                  <a:schemeClr val="bg1"/>
                </a:solidFill>
              </a:rPr>
              <a:t>Gopi Krishna</a:t>
            </a:r>
            <a:endParaRPr lang="en-US" sz="1400" dirty="0"/>
          </a:p>
          <a:p>
            <a:pPr indent="0" marL="0">
              <a:buNone/>
            </a:pPr>
            <a:r>
              <a:rPr lang="en-US" sz="1500" dirty="0">
                <a:solidFill>
                  <a:srgbClr val="C7DDD9"/>
                </a:solidFill>
              </a:rPr>
              <a:t>Cohort 40  ·  AIR Tribe  ·  AI Product Management (AIPM)</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9C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PM's day is scattered across five tools</a:t>
            </a:r>
            <a:endParaRPr lang="en-US" sz="3200" dirty="0"/>
          </a:p>
        </p:txBody>
      </p:sp>
      <p:sp>
        <p:nvSpPr>
          <p:cNvPr id="3" name="stat card 117"/>
          <p:cNvSpPr/>
          <p:nvPr/>
        </p:nvSpPr>
        <p:spPr>
          <a:xfrm>
            <a:off x="548640" y="1417320"/>
            <a:ext cx="3017520" cy="1920240"/>
          </a:xfrm>
          <a:prstGeom prst="roundRect">
            <a:avLst>
              <a:gd name="adj" fmla="val 5714"/>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4" name="Text 2"/>
          <p:cNvSpPr txBox="1"/>
          <p:nvPr/>
        </p:nvSpPr>
        <p:spPr>
          <a:xfrm>
            <a:off x="822960" y="1691640"/>
            <a:ext cx="25603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117</a:t>
            </a:r>
            <a:endParaRPr lang="en-US" sz="4800" dirty="0"/>
          </a:p>
        </p:txBody>
      </p:sp>
      <p:sp>
        <p:nvSpPr>
          <p:cNvPr id="5" name="Text 3"/>
          <p:cNvSpPr txBox="1"/>
          <p:nvPr/>
        </p:nvSpPr>
        <p:spPr>
          <a:xfrm>
            <a:off x="822960" y="2606040"/>
            <a:ext cx="2560320" cy="548640"/>
          </a:xfrm>
          <a:prstGeom prst="rect">
            <a:avLst/>
          </a:prstGeom>
          <a:noFill/>
          <a:ln/>
        </p:spPr>
        <p:txBody>
          <a:bodyPr wrap="square" lIns="0" tIns="0" rIns="0" bIns="0" rtlCol="0" anchor="t"/>
          <a:lstStyle/>
          <a:p>
            <a:pPr indent="0" marL="0">
              <a:buNone/>
            </a:pPr>
            <a:r>
              <a:rPr lang="en-US" sz="1400" dirty="0">
                <a:solidFill>
                  <a:schemeClr val="accent6"/>
                </a:solidFill>
              </a:rPr>
              <a:t>emails received per worker, per day</a:t>
            </a:r>
            <a:endParaRPr lang="en-US" sz="1400" dirty="0"/>
          </a:p>
        </p:txBody>
      </p:sp>
      <p:sp>
        <p:nvSpPr>
          <p:cNvPr id="6" name="stat card 153"/>
          <p:cNvSpPr/>
          <p:nvPr/>
        </p:nvSpPr>
        <p:spPr>
          <a:xfrm>
            <a:off x="3794760" y="1417320"/>
            <a:ext cx="3017520" cy="1920240"/>
          </a:xfrm>
          <a:prstGeom prst="roundRect">
            <a:avLst>
              <a:gd name="adj" fmla="val 5714"/>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7" name="Text 5"/>
          <p:cNvSpPr txBox="1"/>
          <p:nvPr/>
        </p:nvSpPr>
        <p:spPr>
          <a:xfrm>
            <a:off x="4069080" y="1691640"/>
            <a:ext cx="25603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153</a:t>
            </a:r>
            <a:endParaRPr lang="en-US" sz="4800" dirty="0"/>
          </a:p>
        </p:txBody>
      </p:sp>
      <p:sp>
        <p:nvSpPr>
          <p:cNvPr id="8" name="Text 6"/>
          <p:cNvSpPr txBox="1"/>
          <p:nvPr/>
        </p:nvSpPr>
        <p:spPr>
          <a:xfrm>
            <a:off x="4069080" y="2606040"/>
            <a:ext cx="2560320" cy="548640"/>
          </a:xfrm>
          <a:prstGeom prst="rect">
            <a:avLst/>
          </a:prstGeom>
          <a:noFill/>
          <a:ln/>
        </p:spPr>
        <p:txBody>
          <a:bodyPr wrap="square" lIns="0" tIns="0" rIns="0" bIns="0" rtlCol="0" anchor="t"/>
          <a:lstStyle/>
          <a:p>
            <a:pPr indent="0" marL="0">
              <a:buNone/>
            </a:pPr>
            <a:r>
              <a:rPr lang="en-US" sz="1400" dirty="0">
                <a:solidFill>
                  <a:schemeClr val="accent6"/>
                </a:solidFill>
              </a:rPr>
              <a:t>chat messages per worker, per day</a:t>
            </a:r>
            <a:endParaRPr lang="en-US" sz="1400" dirty="0"/>
          </a:p>
        </p:txBody>
      </p:sp>
      <p:sp>
        <p:nvSpPr>
          <p:cNvPr id="9" name="stat card 275"/>
          <p:cNvSpPr/>
          <p:nvPr/>
        </p:nvSpPr>
        <p:spPr>
          <a:xfrm>
            <a:off x="548640" y="3566160"/>
            <a:ext cx="3017520" cy="1920240"/>
          </a:xfrm>
          <a:prstGeom prst="roundRect">
            <a:avLst>
              <a:gd name="adj" fmla="val 5714"/>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0" name="Text 8"/>
          <p:cNvSpPr txBox="1"/>
          <p:nvPr/>
        </p:nvSpPr>
        <p:spPr>
          <a:xfrm>
            <a:off x="822960" y="3840480"/>
            <a:ext cx="2560320" cy="86868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275</a:t>
            </a:r>
            <a:endParaRPr lang="en-US" sz="4800" dirty="0"/>
          </a:p>
        </p:txBody>
      </p:sp>
      <p:sp>
        <p:nvSpPr>
          <p:cNvPr id="11" name="Text 9"/>
          <p:cNvSpPr txBox="1"/>
          <p:nvPr/>
        </p:nvSpPr>
        <p:spPr>
          <a:xfrm>
            <a:off x="822960" y="4754880"/>
            <a:ext cx="2560320" cy="548640"/>
          </a:xfrm>
          <a:prstGeom prst="rect">
            <a:avLst/>
          </a:prstGeom>
          <a:noFill/>
          <a:ln/>
        </p:spPr>
        <p:txBody>
          <a:bodyPr wrap="square" lIns="0" tIns="0" rIns="0" bIns="0" rtlCol="0" anchor="t"/>
          <a:lstStyle/>
          <a:p>
            <a:pPr indent="0" marL="0">
              <a:buNone/>
            </a:pPr>
            <a:r>
              <a:rPr lang="en-US" sz="1400" dirty="0">
                <a:solidFill>
                  <a:schemeClr val="accent6"/>
                </a:solidFill>
              </a:rPr>
              <a:t>interruptions per working day</a:t>
            </a:r>
            <a:endParaRPr lang="en-US" sz="1400" dirty="0"/>
          </a:p>
        </p:txBody>
      </p:sp>
      <p:sp>
        <p:nvSpPr>
          <p:cNvPr id="12" name="stat card ~1,200"/>
          <p:cNvSpPr/>
          <p:nvPr/>
        </p:nvSpPr>
        <p:spPr>
          <a:xfrm>
            <a:off x="3794760" y="3566160"/>
            <a:ext cx="3017520" cy="1920240"/>
          </a:xfrm>
          <a:prstGeom prst="roundRect">
            <a:avLst>
              <a:gd name="adj" fmla="val 5714"/>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3" name="Text 11"/>
          <p:cNvSpPr txBox="1"/>
          <p:nvPr/>
        </p:nvSpPr>
        <p:spPr>
          <a:xfrm>
            <a:off x="4069080" y="3840480"/>
            <a:ext cx="25603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~1,200</a:t>
            </a:r>
            <a:endParaRPr lang="en-US" sz="4800" dirty="0"/>
          </a:p>
        </p:txBody>
      </p:sp>
      <p:sp>
        <p:nvSpPr>
          <p:cNvPr id="14" name="Text 12"/>
          <p:cNvSpPr txBox="1"/>
          <p:nvPr/>
        </p:nvSpPr>
        <p:spPr>
          <a:xfrm>
            <a:off x="4069080" y="4754880"/>
            <a:ext cx="2560320" cy="548640"/>
          </a:xfrm>
          <a:prstGeom prst="rect">
            <a:avLst/>
          </a:prstGeom>
          <a:noFill/>
          <a:ln/>
        </p:spPr>
        <p:txBody>
          <a:bodyPr wrap="square" lIns="0" tIns="0" rIns="0" bIns="0" rtlCol="0" anchor="t"/>
          <a:lstStyle/>
          <a:p>
            <a:pPr indent="0" marL="0">
              <a:buNone/>
            </a:pPr>
            <a:r>
              <a:rPr lang="en-US" sz="1400" dirty="0">
                <a:solidFill>
                  <a:schemeClr val="accent6"/>
                </a:solidFill>
              </a:rPr>
              <a:t>app switches a day (≈ 4 h a week)</a:t>
            </a:r>
            <a:endParaRPr lang="en-US" sz="1400" dirty="0"/>
          </a:p>
        </p:txBody>
      </p:sp>
      <p:sp>
        <p:nvSpPr>
          <p:cNvPr id="15" name="four questions panel"/>
          <p:cNvSpPr/>
          <p:nvPr/>
        </p:nvSpPr>
        <p:spPr>
          <a:xfrm>
            <a:off x="7269480" y="1417320"/>
            <a:ext cx="4343400" cy="4069080"/>
          </a:xfrm>
          <a:prstGeom prst="roundRect">
            <a:avLst>
              <a:gd name="adj" fmla="val 2697"/>
            </a:avLst>
          </a:prstGeom>
          <a:solidFill>
            <a:schemeClr val="tx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6" name="Text 14"/>
          <p:cNvSpPr txBox="1"/>
          <p:nvPr/>
        </p:nvSpPr>
        <p:spPr>
          <a:xfrm>
            <a:off x="7589520" y="1691640"/>
            <a:ext cx="3749040" cy="548640"/>
          </a:xfrm>
          <a:prstGeom prst="rect">
            <a:avLst/>
          </a:prstGeom>
          <a:noFill/>
          <a:ln/>
        </p:spPr>
        <p:txBody>
          <a:bodyPr wrap="square" lIns="0" tIns="0" rIns="0" bIns="0" rtlCol="0" anchor="t"/>
          <a:lstStyle/>
          <a:p>
            <a:pPr indent="0" marL="0">
              <a:buNone/>
            </a:pPr>
            <a:r>
              <a:rPr lang="en-US" sz="1600" b="1" dirty="0">
                <a:solidFill>
                  <a:schemeClr val="accent2"/>
                </a:solidFill>
              </a:rPr>
              <a:t>Every morning the PM must answer, unaided:</a:t>
            </a:r>
            <a:endParaRPr lang="en-US" sz="1600" dirty="0"/>
          </a:p>
        </p:txBody>
      </p:sp>
      <p:sp>
        <p:nvSpPr>
          <p:cNvPr id="17" name="question number 1"/>
          <p:cNvSpPr/>
          <p:nvPr/>
        </p:nvSpPr>
        <p:spPr>
          <a:xfrm>
            <a:off x="7589520" y="2468880"/>
            <a:ext cx="420624" cy="420624"/>
          </a:xfrm>
          <a:prstGeom prst="ellipse">
            <a:avLst/>
          </a:prstGeom>
          <a:solidFill>
            <a:schemeClr val="accent1"/>
          </a:solidFill>
          <a:ln/>
        </p:spPr>
      </p:sp>
      <p:sp>
        <p:nvSpPr>
          <p:cNvPr id="18" name="Text 16"/>
          <p:cNvSpPr txBox="1"/>
          <p:nvPr/>
        </p:nvSpPr>
        <p:spPr>
          <a:xfrm>
            <a:off x="7589520" y="24688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9" name="Text 17"/>
          <p:cNvSpPr txBox="1"/>
          <p:nvPr/>
        </p:nvSpPr>
        <p:spPr>
          <a:xfrm>
            <a:off x="8183880" y="2450592"/>
            <a:ext cx="3291840" cy="457200"/>
          </a:xfrm>
          <a:prstGeom prst="rect">
            <a:avLst/>
          </a:prstGeom>
          <a:noFill/>
          <a:ln/>
        </p:spPr>
        <p:txBody>
          <a:bodyPr wrap="square" lIns="0" tIns="0" rIns="0" bIns="0" rtlCol="0" anchor="ctr"/>
          <a:lstStyle/>
          <a:p>
            <a:pPr indent="0" marL="0">
              <a:buNone/>
            </a:pPr>
            <a:r>
              <a:rPr lang="en-US" sz="1600" dirty="0">
                <a:solidFill>
                  <a:schemeClr val="bg1"/>
                </a:solidFill>
              </a:rPr>
              <a:t>What is my top work today?</a:t>
            </a:r>
            <a:endParaRPr lang="en-US" sz="1600" dirty="0"/>
          </a:p>
        </p:txBody>
      </p:sp>
      <p:sp>
        <p:nvSpPr>
          <p:cNvPr id="20" name="question number 2"/>
          <p:cNvSpPr/>
          <p:nvPr/>
        </p:nvSpPr>
        <p:spPr>
          <a:xfrm>
            <a:off x="7589520" y="3182112"/>
            <a:ext cx="420624" cy="420624"/>
          </a:xfrm>
          <a:prstGeom prst="ellipse">
            <a:avLst/>
          </a:prstGeom>
          <a:solidFill>
            <a:schemeClr val="accent1"/>
          </a:solidFill>
          <a:ln/>
        </p:spPr>
      </p:sp>
      <p:sp>
        <p:nvSpPr>
          <p:cNvPr id="21" name="Text 19"/>
          <p:cNvSpPr txBox="1"/>
          <p:nvPr/>
        </p:nvSpPr>
        <p:spPr>
          <a:xfrm>
            <a:off x="7589520" y="318211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2" name="Text 20"/>
          <p:cNvSpPr txBox="1"/>
          <p:nvPr/>
        </p:nvSpPr>
        <p:spPr>
          <a:xfrm>
            <a:off x="8183880" y="3163824"/>
            <a:ext cx="3291840" cy="457200"/>
          </a:xfrm>
          <a:prstGeom prst="rect">
            <a:avLst/>
          </a:prstGeom>
          <a:noFill/>
          <a:ln/>
        </p:spPr>
        <p:txBody>
          <a:bodyPr wrap="square" lIns="0" tIns="0" rIns="0" bIns="0" rtlCol="0" anchor="ctr"/>
          <a:lstStyle/>
          <a:p>
            <a:pPr indent="0" marL="0">
              <a:buNone/>
            </a:pPr>
            <a:r>
              <a:rPr lang="en-US" sz="1600" dirty="0">
                <a:solidFill>
                  <a:schemeClr val="bg1"/>
                </a:solidFill>
              </a:rPr>
              <a:t>What happened since yesterday?</a:t>
            </a:r>
            <a:endParaRPr lang="en-US" sz="1600" dirty="0"/>
          </a:p>
        </p:txBody>
      </p:sp>
      <p:sp>
        <p:nvSpPr>
          <p:cNvPr id="23" name="question number 3"/>
          <p:cNvSpPr/>
          <p:nvPr/>
        </p:nvSpPr>
        <p:spPr>
          <a:xfrm>
            <a:off x="7589520" y="3895344"/>
            <a:ext cx="420624" cy="420624"/>
          </a:xfrm>
          <a:prstGeom prst="ellipse">
            <a:avLst/>
          </a:prstGeom>
          <a:solidFill>
            <a:schemeClr val="accent1"/>
          </a:solidFill>
          <a:ln/>
        </p:spPr>
      </p:sp>
      <p:sp>
        <p:nvSpPr>
          <p:cNvPr id="24" name="Text 22"/>
          <p:cNvSpPr txBox="1"/>
          <p:nvPr/>
        </p:nvSpPr>
        <p:spPr>
          <a:xfrm>
            <a:off x="7589520" y="389534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5" name="Text 23"/>
          <p:cNvSpPr txBox="1"/>
          <p:nvPr/>
        </p:nvSpPr>
        <p:spPr>
          <a:xfrm>
            <a:off x="8183880" y="3877056"/>
            <a:ext cx="3291840" cy="457200"/>
          </a:xfrm>
          <a:prstGeom prst="rect">
            <a:avLst/>
          </a:prstGeom>
          <a:noFill/>
          <a:ln/>
        </p:spPr>
        <p:txBody>
          <a:bodyPr wrap="square" lIns="0" tIns="0" rIns="0" bIns="0" rtlCol="0" anchor="ctr"/>
          <a:lstStyle/>
          <a:p>
            <a:pPr indent="0" marL="0">
              <a:buNone/>
            </a:pPr>
            <a:r>
              <a:rPr lang="en-US" sz="1600" dirty="0">
                <a:solidFill>
                  <a:schemeClr val="bg1"/>
                </a:solidFill>
              </a:rPr>
              <a:t>What needs my attention now?</a:t>
            </a:r>
            <a:endParaRPr lang="en-US" sz="1600" dirty="0"/>
          </a:p>
        </p:txBody>
      </p:sp>
      <p:sp>
        <p:nvSpPr>
          <p:cNvPr id="26" name="question number 4"/>
          <p:cNvSpPr/>
          <p:nvPr/>
        </p:nvSpPr>
        <p:spPr>
          <a:xfrm>
            <a:off x="7589520" y="4608576"/>
            <a:ext cx="420624" cy="420624"/>
          </a:xfrm>
          <a:prstGeom prst="ellipse">
            <a:avLst/>
          </a:prstGeom>
          <a:solidFill>
            <a:schemeClr val="accent1"/>
          </a:solidFill>
          <a:ln/>
        </p:spPr>
      </p:sp>
      <p:sp>
        <p:nvSpPr>
          <p:cNvPr id="27" name="Text 25"/>
          <p:cNvSpPr txBox="1"/>
          <p:nvPr/>
        </p:nvSpPr>
        <p:spPr>
          <a:xfrm>
            <a:off x="7589520" y="460857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8" name="Text 26"/>
          <p:cNvSpPr txBox="1"/>
          <p:nvPr/>
        </p:nvSpPr>
        <p:spPr>
          <a:xfrm>
            <a:off x="8183880" y="4590288"/>
            <a:ext cx="3291840" cy="457200"/>
          </a:xfrm>
          <a:prstGeom prst="rect">
            <a:avLst/>
          </a:prstGeom>
          <a:noFill/>
          <a:ln/>
        </p:spPr>
        <p:txBody>
          <a:bodyPr wrap="square" lIns="0" tIns="0" rIns="0" bIns="0" rtlCol="0" anchor="ctr"/>
          <a:lstStyle/>
          <a:p>
            <a:pPr indent="0" marL="0">
              <a:buNone/>
            </a:pPr>
            <a:r>
              <a:rPr lang="en-US" sz="1600" dirty="0">
                <a:solidFill>
                  <a:schemeClr val="bg1"/>
                </a:solidFill>
              </a:rPr>
              <a:t>Who is blocked, and on what?</a:t>
            </a:r>
            <a:endParaRPr lang="en-US" sz="1600" dirty="0"/>
          </a:p>
        </p:txBody>
      </p:sp>
      <p:sp>
        <p:nvSpPr>
          <p:cNvPr id="29" name="Text 27"/>
          <p:cNvSpPr txBox="1"/>
          <p:nvPr/>
        </p:nvSpPr>
        <p:spPr>
          <a:xfrm>
            <a:off x="548640" y="5715000"/>
            <a:ext cx="10972800" cy="274320"/>
          </a:xfrm>
          <a:prstGeom prst="rect">
            <a:avLst/>
          </a:prstGeom>
          <a:noFill/>
          <a:ln/>
        </p:spPr>
        <p:txBody>
          <a:bodyPr wrap="square" lIns="0" tIns="0" rIns="0" bIns="0" rtlCol="0" anchor="t"/>
          <a:lstStyle/>
          <a:p>
            <a:pPr indent="0" marL="0">
              <a:buNone/>
            </a:pPr>
            <a:r>
              <a:rPr lang="en-US" sz="1000" i="1" dirty="0">
                <a:solidFill>
                  <a:schemeClr val="accent6"/>
                </a:solidFill>
              </a:rPr>
              <a:t>Sources: Microsoft research via UNLEASH (2025); Harvard Business Review app-toggling study (2022)</a:t>
            </a:r>
            <a:endParaRPr lang="en-US" sz="10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Built first for one startup product manager</a:t>
            </a:r>
            <a:endParaRPr lang="en-US" sz="3200" dirty="0"/>
          </a:p>
        </p:txBody>
      </p:sp>
      <p:sp>
        <p:nvSpPr>
          <p:cNvPr id="3" name="persona card"/>
          <p:cNvSpPr/>
          <p:nvPr/>
        </p:nvSpPr>
        <p:spPr>
          <a:xfrm>
            <a:off x="548640" y="1417320"/>
            <a:ext cx="5212080" cy="4343400"/>
          </a:xfrm>
          <a:prstGeom prst="roundRect">
            <a:avLst>
              <a:gd name="adj" fmla="val 2526"/>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4" name="persona avatar"/>
          <p:cNvSpPr/>
          <p:nvPr/>
        </p:nvSpPr>
        <p:spPr>
          <a:xfrm>
            <a:off x="868680" y="1737360"/>
            <a:ext cx="914400" cy="914400"/>
          </a:xfrm>
          <a:prstGeom prst="ellipse">
            <a:avLst/>
          </a:prstGeom>
          <a:solidFill>
            <a:schemeClr val="accent1"/>
          </a:solidFill>
          <a:ln/>
        </p:spPr>
      </p:sp>
      <p:pic>
        <p:nvPicPr>
          <p:cNvPr id="5" name="Image 0" descr="Persona icon">    </p:cNvPr>
          <p:cNvPicPr>
            <a:picLocks noChangeAspect="1"/>
          </p:cNvPicPr>
          <p:nvPr/>
        </p:nvPicPr>
        <p:blipFill>
          <a:blip r:embed="rId1"/>
          <a:stretch>
            <a:fillRect/>
          </a:stretch>
        </p:blipFill>
        <p:spPr>
          <a:xfrm>
            <a:off x="1097280" y="1965960"/>
            <a:ext cx="457200" cy="457200"/>
          </a:xfrm>
          <a:prstGeom prst="rect">
            <a:avLst/>
          </a:prstGeom>
        </p:spPr>
      </p:pic>
      <p:sp>
        <p:nvSpPr>
          <p:cNvPr id="6" name="Text 3"/>
          <p:cNvSpPr txBox="1"/>
          <p:nvPr/>
        </p:nvSpPr>
        <p:spPr>
          <a:xfrm>
            <a:off x="1965960" y="1783080"/>
            <a:ext cx="3657600" cy="868680"/>
          </a:xfrm>
          <a:prstGeom prst="rect">
            <a:avLst/>
          </a:prstGeom>
          <a:noFill/>
          <a:ln/>
        </p:spPr>
        <p:txBody>
          <a:bodyPr wrap="square" lIns="0" tIns="0" rIns="0" bIns="0" rtlCol="0" anchor="t"/>
          <a:lstStyle/>
          <a:p>
            <a:pPr indent="0" marL="0">
              <a:buNone/>
            </a:pPr>
            <a:r>
              <a:rPr lang="en-US" sz="2200" b="1" dirty="0">
                <a:solidFill>
                  <a:schemeClr val="tx2"/>
                </a:solidFill>
              </a:rPr>
              <a:t>Priya Sharma</a:t>
            </a:r>
            <a:endParaRPr lang="en-US" sz="1400" dirty="0"/>
          </a:p>
          <a:p>
            <a:pPr indent="0" marL="0">
              <a:buNone/>
            </a:pPr>
            <a:r>
              <a:rPr lang="en-US" sz="1400" dirty="0">
                <a:solidFill>
                  <a:schemeClr val="accent6"/>
                </a:solidFill>
              </a:rPr>
              <a:t>Product Manager · 50-person B2B SaaS startup, Bengaluru</a:t>
            </a:r>
            <a:endParaRPr lang="en-US" sz="1400" dirty="0"/>
          </a:p>
        </p:txBody>
      </p:sp>
      <p:sp>
        <p:nvSpPr>
          <p:cNvPr id="7" name="Text 4"/>
          <p:cNvSpPr txBox="1"/>
          <p:nvPr/>
        </p:nvSpPr>
        <p:spPr>
          <a:xfrm>
            <a:off x="868680" y="2880360"/>
            <a:ext cx="46634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Works with 25 engineers, 4 designers, sales, support and 2 founders</a:t>
            </a:r>
            <a:endParaRPr lang="en-US" sz="1500" dirty="0"/>
          </a:p>
          <a:p>
            <a:pPr marL="342900" indent="-342900">
              <a:spcAft>
                <a:spcPts val="600"/>
              </a:spcAft>
              <a:buSzPct val="100000"/>
              <a:buChar char="•"/>
            </a:pPr>
            <a:r>
              <a:rPr lang="en-US" sz="1500" dirty="0">
                <a:solidFill>
                  <a:schemeClr val="tx1"/>
                </a:solidFill>
              </a:rPr>
              <a:t>Coordinates 5 to 50 people a day, so we design for the busiest day</a:t>
            </a:r>
            <a:endParaRPr lang="en-US" sz="1500" dirty="0"/>
          </a:p>
          <a:p>
            <a:pPr marL="342900" indent="-342900">
              <a:spcAft>
                <a:spcPts val="600"/>
              </a:spcAft>
              <a:buSzPct val="100000"/>
              <a:buChar char="•"/>
            </a:pPr>
            <a:r>
              <a:rPr lang="en-US" sz="1500" dirty="0">
                <a:solidFill>
                  <a:schemeClr val="tx1"/>
                </a:solidFill>
              </a:rPr>
              <a:t>Jobs: triage asks, unblock teammates, approve, schedule, report</a:t>
            </a:r>
            <a:endParaRPr lang="en-US" sz="1500" dirty="0"/>
          </a:p>
        </p:txBody>
      </p:sp>
      <p:sp>
        <p:nvSpPr>
          <p:cNvPr id="8" name="Text 5"/>
          <p:cNvSpPr txBox="1"/>
          <p:nvPr/>
        </p:nvSpPr>
        <p:spPr>
          <a:xfrm>
            <a:off x="868680" y="4709160"/>
            <a:ext cx="4663440" cy="548640"/>
          </a:xfrm>
          <a:prstGeom prst="rect">
            <a:avLst/>
          </a:prstGeom>
          <a:noFill/>
          <a:ln/>
        </p:spPr>
        <p:txBody>
          <a:bodyPr wrap="square" lIns="0" tIns="0" rIns="0" bIns="0" rtlCol="0" anchor="t"/>
          <a:lstStyle/>
          <a:p>
            <a:pPr indent="0" marL="0">
              <a:buNone/>
            </a:pPr>
            <a:r>
              <a:rPr lang="en-US" sz="1800" i="1" dirty="0">
                <a:solidFill>
                  <a:schemeClr val="accent1"/>
                </a:solidFill>
                <a:latin typeface="Cambria" pitchFamily="34" charset="0"/>
                <a:ea typeface="Cambria" pitchFamily="34" charset="-122"/>
                <a:cs typeface="Cambria" pitchFamily="34" charset="-120"/>
              </a:rPr>
              <a:t>“The work isn't hard. Finding it is.”</a:t>
            </a:r>
            <a:endParaRPr lang="en-US" sz="1800" dirty="0"/>
          </a:p>
        </p:txBody>
      </p:sp>
      <p:sp>
        <p:nvSpPr>
          <p:cNvPr id="9" name="TAM card"/>
          <p:cNvSpPr/>
          <p:nvPr/>
        </p:nvSpPr>
        <p:spPr>
          <a:xfrm>
            <a:off x="6126480" y="1417320"/>
            <a:ext cx="5486400" cy="1051560"/>
          </a:xfrm>
          <a:prstGeom prst="roundRect">
            <a:avLst>
              <a:gd name="adj" fmla="val 10435"/>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0" name="Text 7"/>
          <p:cNvSpPr txBox="1"/>
          <p:nvPr/>
        </p:nvSpPr>
        <p:spPr>
          <a:xfrm>
            <a:off x="6355080" y="1618488"/>
            <a:ext cx="822960" cy="640080"/>
          </a:xfrm>
          <a:prstGeom prst="rect">
            <a:avLst/>
          </a:prstGeom>
          <a:noFill/>
          <a:ln/>
        </p:spPr>
        <p:txBody>
          <a:bodyPr wrap="square" lIns="0" tIns="0" rIns="0" bIns="0" rtlCol="0" anchor="ctr"/>
          <a:lstStyle/>
          <a:p>
            <a:pPr indent="0" marL="0">
              <a:buNone/>
            </a:pPr>
            <a:r>
              <a:rPr lang="en-US" sz="1800" b="1" dirty="0">
                <a:solidFill>
                  <a:schemeClr val="accent2"/>
                </a:solidFill>
              </a:rPr>
              <a:t>TAM</a:t>
            </a:r>
            <a:endParaRPr lang="en-US" sz="1800" dirty="0"/>
          </a:p>
        </p:txBody>
      </p:sp>
      <p:sp>
        <p:nvSpPr>
          <p:cNvPr id="11" name="Text 8"/>
          <p:cNvSpPr txBox="1"/>
          <p:nvPr/>
        </p:nvSpPr>
        <p:spPr>
          <a:xfrm>
            <a:off x="7178040" y="1527048"/>
            <a:ext cx="420624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 $290M / yr</a:t>
            </a:r>
            <a:endParaRPr lang="en-US" sz="2200" dirty="0"/>
          </a:p>
        </p:txBody>
      </p:sp>
      <p:sp>
        <p:nvSpPr>
          <p:cNvPr id="12" name="Text 9"/>
          <p:cNvSpPr txBox="1"/>
          <p:nvPr/>
        </p:nvSpPr>
        <p:spPr>
          <a:xfrm>
            <a:off x="7178040" y="1984248"/>
            <a:ext cx="4297680" cy="411480"/>
          </a:xfrm>
          <a:prstGeom prst="rect">
            <a:avLst/>
          </a:prstGeom>
          <a:noFill/>
          <a:ln/>
        </p:spPr>
        <p:txBody>
          <a:bodyPr wrap="square" lIns="0" tIns="0" rIns="0" bIns="0" rtlCol="0" anchor="t"/>
          <a:lstStyle/>
          <a:p>
            <a:pPr indent="0" marL="0">
              <a:buNone/>
            </a:pPr>
            <a:r>
              <a:rPr lang="en-US" sz="1200" dirty="0">
                <a:solidFill>
                  <a:schemeClr val="accent6"/>
                </a:solidFill>
              </a:rPr>
              <a:t>1.6M product managers worldwide × $15 per seat a month</a:t>
            </a:r>
            <a:endParaRPr lang="en-US" sz="1200" dirty="0"/>
          </a:p>
        </p:txBody>
      </p:sp>
      <p:sp>
        <p:nvSpPr>
          <p:cNvPr id="13" name="SAM card"/>
          <p:cNvSpPr/>
          <p:nvPr/>
        </p:nvSpPr>
        <p:spPr>
          <a:xfrm>
            <a:off x="6126480" y="2624328"/>
            <a:ext cx="5486400" cy="1051560"/>
          </a:xfrm>
          <a:prstGeom prst="roundRect">
            <a:avLst>
              <a:gd name="adj" fmla="val 10435"/>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4" name="Text 11"/>
          <p:cNvSpPr txBox="1"/>
          <p:nvPr/>
        </p:nvSpPr>
        <p:spPr>
          <a:xfrm>
            <a:off x="6355080" y="2825496"/>
            <a:ext cx="822960" cy="640080"/>
          </a:xfrm>
          <a:prstGeom prst="rect">
            <a:avLst/>
          </a:prstGeom>
          <a:noFill/>
          <a:ln/>
        </p:spPr>
        <p:txBody>
          <a:bodyPr wrap="square" lIns="0" tIns="0" rIns="0" bIns="0" rtlCol="0" anchor="ctr"/>
          <a:lstStyle/>
          <a:p>
            <a:pPr indent="0" marL="0">
              <a:buNone/>
            </a:pPr>
            <a:r>
              <a:rPr lang="en-US" sz="1800" b="1" dirty="0">
                <a:solidFill>
                  <a:schemeClr val="accent2"/>
                </a:solidFill>
              </a:rPr>
              <a:t>SAM</a:t>
            </a:r>
            <a:endParaRPr lang="en-US" sz="1800" dirty="0"/>
          </a:p>
        </p:txBody>
      </p:sp>
      <p:sp>
        <p:nvSpPr>
          <p:cNvPr id="15" name="Text 12"/>
          <p:cNvSpPr txBox="1"/>
          <p:nvPr/>
        </p:nvSpPr>
        <p:spPr>
          <a:xfrm>
            <a:off x="7178040" y="2734056"/>
            <a:ext cx="420624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 $50M / yr</a:t>
            </a:r>
            <a:endParaRPr lang="en-US" sz="2200" dirty="0"/>
          </a:p>
        </p:txBody>
      </p:sp>
      <p:sp>
        <p:nvSpPr>
          <p:cNvPr id="16" name="Text 13"/>
          <p:cNvSpPr txBox="1"/>
          <p:nvPr/>
        </p:nvSpPr>
        <p:spPr>
          <a:xfrm>
            <a:off x="7178040" y="3191256"/>
            <a:ext cx="4297680" cy="411480"/>
          </a:xfrm>
          <a:prstGeom prst="rect">
            <a:avLst/>
          </a:prstGeom>
          <a:noFill/>
          <a:ln/>
        </p:spPr>
        <p:txBody>
          <a:bodyPr wrap="square" lIns="0" tIns="0" rIns="0" bIns="0" rtlCol="0" anchor="t"/>
          <a:lstStyle/>
          <a:p>
            <a:pPr indent="0" marL="0">
              <a:buNone/>
            </a:pPr>
            <a:r>
              <a:rPr lang="en-US" sz="1200" dirty="0">
                <a:solidFill>
                  <a:schemeClr val="accent6"/>
                </a:solidFill>
              </a:rPr>
              <a:t>PMs at 20–500-person software firms in the US, India and Europe</a:t>
            </a:r>
            <a:endParaRPr lang="en-US" sz="1200" dirty="0"/>
          </a:p>
        </p:txBody>
      </p:sp>
      <p:sp>
        <p:nvSpPr>
          <p:cNvPr id="17" name="SOM card"/>
          <p:cNvSpPr/>
          <p:nvPr/>
        </p:nvSpPr>
        <p:spPr>
          <a:xfrm>
            <a:off x="6126480" y="3831336"/>
            <a:ext cx="5486400" cy="1051560"/>
          </a:xfrm>
          <a:prstGeom prst="roundRect">
            <a:avLst>
              <a:gd name="adj" fmla="val 10435"/>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8" name="Text 15"/>
          <p:cNvSpPr txBox="1"/>
          <p:nvPr/>
        </p:nvSpPr>
        <p:spPr>
          <a:xfrm>
            <a:off x="6355080" y="4032504"/>
            <a:ext cx="822960" cy="640080"/>
          </a:xfrm>
          <a:prstGeom prst="rect">
            <a:avLst/>
          </a:prstGeom>
          <a:noFill/>
          <a:ln/>
        </p:spPr>
        <p:txBody>
          <a:bodyPr wrap="square" lIns="0" tIns="0" rIns="0" bIns="0" rtlCol="0" anchor="ctr"/>
          <a:lstStyle/>
          <a:p>
            <a:pPr indent="0" marL="0">
              <a:buNone/>
            </a:pPr>
            <a:r>
              <a:rPr lang="en-US" sz="1800" b="1" dirty="0">
                <a:solidFill>
                  <a:schemeClr val="accent2"/>
                </a:solidFill>
              </a:rPr>
              <a:t>SOM</a:t>
            </a:r>
            <a:endParaRPr lang="en-US" sz="1800" dirty="0"/>
          </a:p>
        </p:txBody>
      </p:sp>
      <p:sp>
        <p:nvSpPr>
          <p:cNvPr id="19" name="Text 16"/>
          <p:cNvSpPr txBox="1"/>
          <p:nvPr/>
        </p:nvSpPr>
        <p:spPr>
          <a:xfrm>
            <a:off x="7178040" y="3941064"/>
            <a:ext cx="420624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$0.5–1M ARR</a:t>
            </a:r>
            <a:endParaRPr lang="en-US" sz="2200" dirty="0"/>
          </a:p>
        </p:txBody>
      </p:sp>
      <p:sp>
        <p:nvSpPr>
          <p:cNvPr id="20" name="Text 17"/>
          <p:cNvSpPr txBox="1"/>
          <p:nvPr/>
        </p:nvSpPr>
        <p:spPr>
          <a:xfrm>
            <a:off x="7178040" y="4398264"/>
            <a:ext cx="4297680" cy="411480"/>
          </a:xfrm>
          <a:prstGeom prst="rect">
            <a:avLst/>
          </a:prstGeom>
          <a:noFill/>
          <a:ln/>
        </p:spPr>
        <p:txBody>
          <a:bodyPr wrap="square" lIns="0" tIns="0" rIns="0" bIns="0" rtlCol="0" anchor="t"/>
          <a:lstStyle/>
          <a:p>
            <a:pPr indent="0" marL="0">
              <a:buNone/>
            </a:pPr>
            <a:r>
              <a:rPr lang="en-US" sz="1200" dirty="0">
                <a:solidFill>
                  <a:schemeClr val="accent6"/>
                </a:solidFill>
              </a:rPr>
              <a:t>1–2% of SAM in 3 years with self-serve and founder-led sales</a:t>
            </a:r>
            <a:endParaRPr lang="en-US" sz="1200" dirty="0"/>
          </a:p>
        </p:txBody>
      </p:sp>
      <p:sp>
        <p:nvSpPr>
          <p:cNvPr id="21" name="Text 18"/>
          <p:cNvSpPr txBox="1"/>
          <p:nvPr/>
        </p:nvSpPr>
        <p:spPr>
          <a:xfrm>
            <a:off x="6126480" y="5120640"/>
            <a:ext cx="5486400" cy="457200"/>
          </a:xfrm>
          <a:prstGeom prst="rect">
            <a:avLst/>
          </a:prstGeom>
          <a:noFill/>
          <a:ln/>
        </p:spPr>
        <p:txBody>
          <a:bodyPr wrap="square" lIns="0" tIns="0" rIns="0" bIns="0" rtlCol="0" anchor="t"/>
          <a:lstStyle/>
          <a:p>
            <a:pPr indent="0" marL="0">
              <a:buNone/>
            </a:pPr>
            <a:r>
              <a:rPr lang="en-US" sz="1400" b="1" dirty="0">
                <a:solidFill>
                  <a:schemeClr val="accent1"/>
                </a:solidFill>
              </a:rPr>
              <a:t>B2B · buyer is the founder or CTO · next beachhead: 50–250-person scale-ups</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Four tools hide the same seven jobs</a:t>
            </a:r>
            <a:endParaRPr lang="en-US" sz="3200" dirty="0"/>
          </a:p>
        </p:txBody>
      </p:sp>
      <p:sp>
        <p:nvSpPr>
          <p:cNvPr id="3" name="Slack tool card"/>
          <p:cNvSpPr/>
          <p:nvPr/>
        </p:nvSpPr>
        <p:spPr>
          <a:xfrm>
            <a:off x="548640" y="1417320"/>
            <a:ext cx="3749040" cy="822960"/>
          </a:xfrm>
          <a:prstGeom prst="roundRect">
            <a:avLst>
              <a:gd name="adj" fmla="val 13333"/>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pic>
        <p:nvPicPr>
          <p:cNvPr id="4" name="Image 0" descr="Slack logo">    </p:cNvPr>
          <p:cNvPicPr>
            <a:picLocks noChangeAspect="1"/>
          </p:cNvPicPr>
          <p:nvPr/>
        </p:nvPicPr>
        <p:blipFill>
          <a:blip r:embed="rId1"/>
          <a:stretch>
            <a:fillRect/>
          </a:stretch>
        </p:blipFill>
        <p:spPr>
          <a:xfrm>
            <a:off x="777240" y="1600200"/>
            <a:ext cx="457200" cy="457200"/>
          </a:xfrm>
          <a:prstGeom prst="rect">
            <a:avLst/>
          </a:prstGeom>
        </p:spPr>
      </p:pic>
      <p:sp>
        <p:nvSpPr>
          <p:cNvPr id="5" name="Text 2"/>
          <p:cNvSpPr txBox="1"/>
          <p:nvPr/>
        </p:nvSpPr>
        <p:spPr>
          <a:xfrm>
            <a:off x="1417320" y="1508760"/>
            <a:ext cx="2743200" cy="658368"/>
          </a:xfrm>
          <a:prstGeom prst="rect">
            <a:avLst/>
          </a:prstGeom>
          <a:noFill/>
          <a:ln/>
        </p:spPr>
        <p:txBody>
          <a:bodyPr wrap="square" lIns="0" tIns="0" rIns="0" bIns="0" rtlCol="0" anchor="t"/>
          <a:lstStyle/>
          <a:p>
            <a:pPr indent="0" marL="0">
              <a:buNone/>
            </a:pPr>
            <a:r>
              <a:rPr lang="en-US" sz="1600" b="1" dirty="0">
                <a:solidFill>
                  <a:schemeClr val="tx2"/>
                </a:solidFill>
              </a:rPr>
              <a:t>Slack</a:t>
            </a:r>
            <a:endParaRPr lang="en-US" sz="1400" dirty="0"/>
          </a:p>
          <a:p>
            <a:pPr indent="0" marL="0">
              <a:buNone/>
            </a:pPr>
            <a:r>
              <a:rPr lang="en-US" sz="1200" dirty="0">
                <a:solidFill>
                  <a:schemeClr val="accent6"/>
                </a:solidFill>
              </a:rPr>
              <a:t>mentions, DMs, incidents</a:t>
            </a:r>
            <a:endParaRPr lang="en-US" sz="1400" dirty="0"/>
          </a:p>
        </p:txBody>
      </p:sp>
      <p:sp>
        <p:nvSpPr>
          <p:cNvPr id="6" name="Jira tool card"/>
          <p:cNvSpPr/>
          <p:nvPr/>
        </p:nvSpPr>
        <p:spPr>
          <a:xfrm>
            <a:off x="548640" y="2404872"/>
            <a:ext cx="3749040" cy="822960"/>
          </a:xfrm>
          <a:prstGeom prst="roundRect">
            <a:avLst>
              <a:gd name="adj" fmla="val 13333"/>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pic>
        <p:nvPicPr>
          <p:cNvPr id="7" name="Image 1" descr="Jira logo">    </p:cNvPr>
          <p:cNvPicPr>
            <a:picLocks noChangeAspect="1"/>
          </p:cNvPicPr>
          <p:nvPr/>
        </p:nvPicPr>
        <p:blipFill>
          <a:blip r:embed="rId2"/>
          <a:stretch>
            <a:fillRect/>
          </a:stretch>
        </p:blipFill>
        <p:spPr>
          <a:xfrm>
            <a:off x="777240" y="2587752"/>
            <a:ext cx="457200" cy="457200"/>
          </a:xfrm>
          <a:prstGeom prst="rect">
            <a:avLst/>
          </a:prstGeom>
        </p:spPr>
      </p:pic>
      <p:sp>
        <p:nvSpPr>
          <p:cNvPr id="8" name="Text 4"/>
          <p:cNvSpPr txBox="1"/>
          <p:nvPr/>
        </p:nvSpPr>
        <p:spPr>
          <a:xfrm>
            <a:off x="1417320" y="2496312"/>
            <a:ext cx="2743200" cy="658368"/>
          </a:xfrm>
          <a:prstGeom prst="rect">
            <a:avLst/>
          </a:prstGeom>
          <a:noFill/>
          <a:ln/>
        </p:spPr>
        <p:txBody>
          <a:bodyPr wrap="square" lIns="0" tIns="0" rIns="0" bIns="0" rtlCol="0" anchor="t"/>
          <a:lstStyle/>
          <a:p>
            <a:pPr indent="0" marL="0">
              <a:buNone/>
            </a:pPr>
            <a:r>
              <a:rPr lang="en-US" sz="1600" b="1" dirty="0">
                <a:solidFill>
                  <a:schemeClr val="tx2"/>
                </a:solidFill>
              </a:rPr>
              <a:t>Jira</a:t>
            </a:r>
            <a:endParaRPr lang="en-US" sz="1400" dirty="0"/>
          </a:p>
          <a:p>
            <a:pPr indent="0" marL="0">
              <a:buNone/>
            </a:pPr>
            <a:r>
              <a:rPr lang="en-US" sz="1200" dirty="0">
                <a:solidFill>
                  <a:schemeClr val="accent6"/>
                </a:solidFill>
              </a:rPr>
              <a:t>assigned, blocked, P1 issues</a:t>
            </a:r>
            <a:endParaRPr lang="en-US" sz="1400" dirty="0"/>
          </a:p>
        </p:txBody>
      </p:sp>
      <p:sp>
        <p:nvSpPr>
          <p:cNvPr id="9" name="GitHub tool card"/>
          <p:cNvSpPr/>
          <p:nvPr/>
        </p:nvSpPr>
        <p:spPr>
          <a:xfrm>
            <a:off x="548640" y="3392424"/>
            <a:ext cx="3749040" cy="822960"/>
          </a:xfrm>
          <a:prstGeom prst="roundRect">
            <a:avLst>
              <a:gd name="adj" fmla="val 13333"/>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pic>
        <p:nvPicPr>
          <p:cNvPr id="10" name="Image 2" descr="GitHub logo">    </p:cNvPr>
          <p:cNvPicPr>
            <a:picLocks noChangeAspect="1"/>
          </p:cNvPicPr>
          <p:nvPr/>
        </p:nvPicPr>
        <p:blipFill>
          <a:blip r:embed="rId3"/>
          <a:stretch>
            <a:fillRect/>
          </a:stretch>
        </p:blipFill>
        <p:spPr>
          <a:xfrm>
            <a:off x="777240" y="3575304"/>
            <a:ext cx="457200" cy="457200"/>
          </a:xfrm>
          <a:prstGeom prst="rect">
            <a:avLst/>
          </a:prstGeom>
        </p:spPr>
      </p:pic>
      <p:sp>
        <p:nvSpPr>
          <p:cNvPr id="11" name="Text 6"/>
          <p:cNvSpPr txBox="1"/>
          <p:nvPr/>
        </p:nvSpPr>
        <p:spPr>
          <a:xfrm>
            <a:off x="1417320" y="3483864"/>
            <a:ext cx="2743200" cy="658368"/>
          </a:xfrm>
          <a:prstGeom prst="rect">
            <a:avLst/>
          </a:prstGeom>
          <a:noFill/>
          <a:ln/>
        </p:spPr>
        <p:txBody>
          <a:bodyPr wrap="square" lIns="0" tIns="0" rIns="0" bIns="0" rtlCol="0" anchor="t"/>
          <a:lstStyle/>
          <a:p>
            <a:pPr indent="0" marL="0">
              <a:buNone/>
            </a:pPr>
            <a:r>
              <a:rPr lang="en-US" sz="1600" b="1" dirty="0">
                <a:solidFill>
                  <a:schemeClr val="tx2"/>
                </a:solidFill>
              </a:rPr>
              <a:t>GitHub</a:t>
            </a:r>
            <a:endParaRPr lang="en-US" sz="1400" dirty="0"/>
          </a:p>
          <a:p>
            <a:pPr indent="0" marL="0">
              <a:buNone/>
            </a:pPr>
            <a:r>
              <a:rPr lang="en-US" sz="1200" dirty="0">
                <a:solidFill>
                  <a:schemeClr val="accent6"/>
                </a:solidFill>
              </a:rPr>
              <a:t>reviews, failing checks</a:t>
            </a:r>
            <a:endParaRPr lang="en-US" sz="1400" dirty="0"/>
          </a:p>
        </p:txBody>
      </p:sp>
      <p:sp>
        <p:nvSpPr>
          <p:cNvPr id="12" name="Gmail + Calendar tool card"/>
          <p:cNvSpPr/>
          <p:nvPr/>
        </p:nvSpPr>
        <p:spPr>
          <a:xfrm>
            <a:off x="548640" y="4379976"/>
            <a:ext cx="3749040" cy="822960"/>
          </a:xfrm>
          <a:prstGeom prst="roundRect">
            <a:avLst>
              <a:gd name="adj" fmla="val 13333"/>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pic>
        <p:nvPicPr>
          <p:cNvPr id="13" name="Image 3" descr="Gmail + Calendar logo">    </p:cNvPr>
          <p:cNvPicPr>
            <a:picLocks noChangeAspect="1"/>
          </p:cNvPicPr>
          <p:nvPr/>
        </p:nvPicPr>
        <p:blipFill>
          <a:blip r:embed="rId4"/>
          <a:stretch>
            <a:fillRect/>
          </a:stretch>
        </p:blipFill>
        <p:spPr>
          <a:xfrm>
            <a:off x="777240" y="4562856"/>
            <a:ext cx="457200" cy="457200"/>
          </a:xfrm>
          <a:prstGeom prst="rect">
            <a:avLst/>
          </a:prstGeom>
        </p:spPr>
      </p:pic>
      <p:sp>
        <p:nvSpPr>
          <p:cNvPr id="14" name="Text 8"/>
          <p:cNvSpPr txBox="1"/>
          <p:nvPr/>
        </p:nvSpPr>
        <p:spPr>
          <a:xfrm>
            <a:off x="1417320" y="4471416"/>
            <a:ext cx="2743200" cy="658368"/>
          </a:xfrm>
          <a:prstGeom prst="rect">
            <a:avLst/>
          </a:prstGeom>
          <a:noFill/>
          <a:ln/>
        </p:spPr>
        <p:txBody>
          <a:bodyPr wrap="square" lIns="0" tIns="0" rIns="0" bIns="0" rtlCol="0" anchor="t"/>
          <a:lstStyle/>
          <a:p>
            <a:pPr indent="0" marL="0">
              <a:buNone/>
            </a:pPr>
            <a:r>
              <a:rPr lang="en-US" sz="1600" b="1" dirty="0">
                <a:solidFill>
                  <a:schemeClr val="tx2"/>
                </a:solidFill>
              </a:rPr>
              <a:t>Gmail + Calendar</a:t>
            </a:r>
            <a:endParaRPr lang="en-US" sz="1400" dirty="0"/>
          </a:p>
          <a:p>
            <a:pPr indent="0" marL="0">
              <a:buNone/>
            </a:pPr>
            <a:r>
              <a:rPr lang="en-US" sz="1200" dirty="0">
                <a:solidFill>
                  <a:schemeClr val="accent6"/>
                </a:solidFill>
              </a:rPr>
              <a:t>escalations, invites</a:t>
            </a:r>
            <a:endParaRPr lang="en-US" sz="1400" dirty="0"/>
          </a:p>
        </p:txBody>
      </p:sp>
      <p:pic>
        <p:nvPicPr>
          <p:cNvPr id="15" name="Image 4" descr="Arrow">    </p:cNvPr>
          <p:cNvPicPr>
            <a:picLocks noChangeAspect="1"/>
          </p:cNvPicPr>
          <p:nvPr/>
        </p:nvPicPr>
        <p:blipFill>
          <a:blip r:embed="rId5"/>
          <a:stretch>
            <a:fillRect/>
          </a:stretch>
        </p:blipFill>
        <p:spPr>
          <a:xfrm>
            <a:off x="4526280" y="2743200"/>
            <a:ext cx="640080" cy="640080"/>
          </a:xfrm>
          <a:prstGeom prst="rect">
            <a:avLst/>
          </a:prstGeom>
        </p:spPr>
      </p:pic>
      <p:sp>
        <p:nvSpPr>
          <p:cNvPr id="16" name="job Ask"/>
          <p:cNvSpPr/>
          <p:nvPr/>
        </p:nvSpPr>
        <p:spPr>
          <a:xfrm>
            <a:off x="5440680" y="1463040"/>
            <a:ext cx="1920240" cy="960120"/>
          </a:xfrm>
          <a:prstGeom prst="roundRect">
            <a:avLst>
              <a:gd name="adj" fmla="val 11429"/>
            </a:avLst>
          </a:prstGeom>
          <a:solidFill>
            <a:schemeClr val="bg2"/>
          </a:solidFill>
          <a:ln w="15875">
            <a:solidFill>
              <a:schemeClr val="accent1"/>
            </a:solidFill>
            <a:prstDash val="solid"/>
          </a:ln>
        </p:spPr>
      </p:sp>
      <p:sp>
        <p:nvSpPr>
          <p:cNvPr id="17" name="Text 10"/>
          <p:cNvSpPr txBox="1"/>
          <p:nvPr/>
        </p:nvSpPr>
        <p:spPr>
          <a:xfrm>
            <a:off x="5532120" y="1463040"/>
            <a:ext cx="1737360" cy="960120"/>
          </a:xfrm>
          <a:prstGeom prst="rect">
            <a:avLst/>
          </a:prstGeom>
          <a:noFill/>
          <a:ln/>
        </p:spPr>
        <p:txBody>
          <a:bodyPr wrap="square" lIns="0" tIns="0" rIns="0" bIns="0" rtlCol="0" anchor="ctr"/>
          <a:lstStyle/>
          <a:p>
            <a:pPr algn="ctr" indent="0" marL="0">
              <a:buNone/>
            </a:pPr>
            <a:r>
              <a:rPr lang="en-US" sz="1600" b="1" dirty="0">
                <a:solidFill>
                  <a:schemeClr val="accent1"/>
                </a:solidFill>
              </a:rPr>
              <a:t>Ask</a:t>
            </a:r>
            <a:endParaRPr lang="en-US" sz="1600" dirty="0"/>
          </a:p>
        </p:txBody>
      </p:sp>
      <p:sp>
        <p:nvSpPr>
          <p:cNvPr id="18" name="job Blocker"/>
          <p:cNvSpPr/>
          <p:nvPr/>
        </p:nvSpPr>
        <p:spPr>
          <a:xfrm>
            <a:off x="7525512" y="1463040"/>
            <a:ext cx="1920240" cy="960120"/>
          </a:xfrm>
          <a:prstGeom prst="roundRect">
            <a:avLst>
              <a:gd name="adj" fmla="val 11429"/>
            </a:avLst>
          </a:prstGeom>
          <a:solidFill>
            <a:schemeClr val="bg2"/>
          </a:solidFill>
          <a:ln w="15875">
            <a:solidFill>
              <a:schemeClr val="accent4"/>
            </a:solidFill>
            <a:prstDash val="solid"/>
          </a:ln>
        </p:spPr>
      </p:sp>
      <p:sp>
        <p:nvSpPr>
          <p:cNvPr id="19" name="Text 12"/>
          <p:cNvSpPr txBox="1"/>
          <p:nvPr/>
        </p:nvSpPr>
        <p:spPr>
          <a:xfrm>
            <a:off x="7616952" y="1463040"/>
            <a:ext cx="1737360" cy="960120"/>
          </a:xfrm>
          <a:prstGeom prst="rect">
            <a:avLst/>
          </a:prstGeom>
          <a:noFill/>
          <a:ln/>
        </p:spPr>
        <p:txBody>
          <a:bodyPr wrap="square" lIns="0" tIns="0" rIns="0" bIns="0" rtlCol="0" anchor="ctr"/>
          <a:lstStyle/>
          <a:p>
            <a:pPr algn="ctr" indent="0" marL="0">
              <a:buNone/>
            </a:pPr>
            <a:r>
              <a:rPr lang="en-US" sz="1600" b="1" dirty="0">
                <a:solidFill>
                  <a:schemeClr val="accent4"/>
                </a:solidFill>
              </a:rPr>
              <a:t>Blocker</a:t>
            </a:r>
            <a:endParaRPr lang="en-US" sz="1600" dirty="0"/>
          </a:p>
        </p:txBody>
      </p:sp>
      <p:sp>
        <p:nvSpPr>
          <p:cNvPr id="20" name="job Approval"/>
          <p:cNvSpPr/>
          <p:nvPr/>
        </p:nvSpPr>
        <p:spPr>
          <a:xfrm>
            <a:off x="9610344" y="1463040"/>
            <a:ext cx="1920240" cy="960120"/>
          </a:xfrm>
          <a:prstGeom prst="roundRect">
            <a:avLst>
              <a:gd name="adj" fmla="val 11429"/>
            </a:avLst>
          </a:prstGeom>
          <a:solidFill>
            <a:schemeClr val="bg2"/>
          </a:solidFill>
          <a:ln w="15875">
            <a:solidFill>
              <a:schemeClr val="accent1"/>
            </a:solidFill>
            <a:prstDash val="solid"/>
          </a:ln>
        </p:spPr>
      </p:sp>
      <p:sp>
        <p:nvSpPr>
          <p:cNvPr id="21" name="Text 14"/>
          <p:cNvSpPr txBox="1"/>
          <p:nvPr/>
        </p:nvSpPr>
        <p:spPr>
          <a:xfrm>
            <a:off x="9701784" y="1463040"/>
            <a:ext cx="1737360" cy="960120"/>
          </a:xfrm>
          <a:prstGeom prst="rect">
            <a:avLst/>
          </a:prstGeom>
          <a:noFill/>
          <a:ln/>
        </p:spPr>
        <p:txBody>
          <a:bodyPr wrap="square" lIns="0" tIns="0" rIns="0" bIns="0" rtlCol="0" anchor="ctr"/>
          <a:lstStyle/>
          <a:p>
            <a:pPr algn="ctr" indent="0" marL="0">
              <a:buNone/>
            </a:pPr>
            <a:r>
              <a:rPr lang="en-US" sz="1600" b="1" dirty="0">
                <a:solidFill>
                  <a:schemeClr val="accent1"/>
                </a:solidFill>
              </a:rPr>
              <a:t>Approval</a:t>
            </a:r>
            <a:endParaRPr lang="en-US" sz="1600" dirty="0"/>
          </a:p>
        </p:txBody>
      </p:sp>
      <p:sp>
        <p:nvSpPr>
          <p:cNvPr id="22" name="job Meeting request"/>
          <p:cNvSpPr/>
          <p:nvPr/>
        </p:nvSpPr>
        <p:spPr>
          <a:xfrm>
            <a:off x="5440680" y="2651760"/>
            <a:ext cx="1920240" cy="960120"/>
          </a:xfrm>
          <a:prstGeom prst="roundRect">
            <a:avLst>
              <a:gd name="adj" fmla="val 11429"/>
            </a:avLst>
          </a:prstGeom>
          <a:solidFill>
            <a:schemeClr val="bg2"/>
          </a:solidFill>
          <a:ln w="15875">
            <a:solidFill>
              <a:schemeClr val="accent1"/>
            </a:solidFill>
            <a:prstDash val="solid"/>
          </a:ln>
        </p:spPr>
      </p:sp>
      <p:sp>
        <p:nvSpPr>
          <p:cNvPr id="23" name="Text 16"/>
          <p:cNvSpPr txBox="1"/>
          <p:nvPr/>
        </p:nvSpPr>
        <p:spPr>
          <a:xfrm>
            <a:off x="5532120" y="2651760"/>
            <a:ext cx="1737360" cy="960120"/>
          </a:xfrm>
          <a:prstGeom prst="rect">
            <a:avLst/>
          </a:prstGeom>
          <a:noFill/>
          <a:ln/>
        </p:spPr>
        <p:txBody>
          <a:bodyPr wrap="square" lIns="0" tIns="0" rIns="0" bIns="0" rtlCol="0" anchor="ctr"/>
          <a:lstStyle/>
          <a:p>
            <a:pPr algn="ctr" indent="0" marL="0">
              <a:buNone/>
            </a:pPr>
            <a:r>
              <a:rPr lang="en-US" sz="1600" b="1" dirty="0">
                <a:solidFill>
                  <a:schemeClr val="accent1"/>
                </a:solidFill>
              </a:rPr>
              <a:t>Meeting request</a:t>
            </a:r>
            <a:endParaRPr lang="en-US" sz="1600" dirty="0"/>
          </a:p>
        </p:txBody>
      </p:sp>
      <p:sp>
        <p:nvSpPr>
          <p:cNvPr id="24" name="job Escalation"/>
          <p:cNvSpPr/>
          <p:nvPr/>
        </p:nvSpPr>
        <p:spPr>
          <a:xfrm>
            <a:off x="7525512" y="2651760"/>
            <a:ext cx="1920240" cy="960120"/>
          </a:xfrm>
          <a:prstGeom prst="roundRect">
            <a:avLst>
              <a:gd name="adj" fmla="val 11429"/>
            </a:avLst>
          </a:prstGeom>
          <a:solidFill>
            <a:schemeClr val="bg2"/>
          </a:solidFill>
          <a:ln w="15875">
            <a:solidFill>
              <a:schemeClr val="accent4"/>
            </a:solidFill>
            <a:prstDash val="solid"/>
          </a:ln>
        </p:spPr>
      </p:sp>
      <p:sp>
        <p:nvSpPr>
          <p:cNvPr id="25" name="Text 18"/>
          <p:cNvSpPr txBox="1"/>
          <p:nvPr/>
        </p:nvSpPr>
        <p:spPr>
          <a:xfrm>
            <a:off x="7616952" y="2651760"/>
            <a:ext cx="1737360" cy="960120"/>
          </a:xfrm>
          <a:prstGeom prst="rect">
            <a:avLst/>
          </a:prstGeom>
          <a:noFill/>
          <a:ln/>
        </p:spPr>
        <p:txBody>
          <a:bodyPr wrap="square" lIns="0" tIns="0" rIns="0" bIns="0" rtlCol="0" anchor="ctr"/>
          <a:lstStyle/>
          <a:p>
            <a:pPr algn="ctr" indent="0" marL="0">
              <a:buNone/>
            </a:pPr>
            <a:r>
              <a:rPr lang="en-US" sz="1600" b="1" dirty="0">
                <a:solidFill>
                  <a:schemeClr val="accent4"/>
                </a:solidFill>
              </a:rPr>
              <a:t>Escalation</a:t>
            </a:r>
            <a:endParaRPr lang="en-US" sz="1600" dirty="0"/>
          </a:p>
        </p:txBody>
      </p:sp>
      <p:sp>
        <p:nvSpPr>
          <p:cNvPr id="26" name="job Update"/>
          <p:cNvSpPr/>
          <p:nvPr/>
        </p:nvSpPr>
        <p:spPr>
          <a:xfrm>
            <a:off x="9610344" y="2651760"/>
            <a:ext cx="1920240" cy="960120"/>
          </a:xfrm>
          <a:prstGeom prst="roundRect">
            <a:avLst>
              <a:gd name="adj" fmla="val 11429"/>
            </a:avLst>
          </a:prstGeom>
          <a:solidFill>
            <a:schemeClr val="bg2"/>
          </a:solidFill>
          <a:ln w="15875">
            <a:solidFill>
              <a:schemeClr val="accent6"/>
            </a:solidFill>
            <a:prstDash val="solid"/>
          </a:ln>
        </p:spPr>
      </p:sp>
      <p:sp>
        <p:nvSpPr>
          <p:cNvPr id="27" name="Text 20"/>
          <p:cNvSpPr txBox="1"/>
          <p:nvPr/>
        </p:nvSpPr>
        <p:spPr>
          <a:xfrm>
            <a:off x="9701784" y="2651760"/>
            <a:ext cx="1737360" cy="960120"/>
          </a:xfrm>
          <a:prstGeom prst="rect">
            <a:avLst/>
          </a:prstGeom>
          <a:noFill/>
          <a:ln/>
        </p:spPr>
        <p:txBody>
          <a:bodyPr wrap="square" lIns="0" tIns="0" rIns="0" bIns="0" rtlCol="0" anchor="ctr"/>
          <a:lstStyle/>
          <a:p>
            <a:pPr algn="ctr" indent="0" marL="0">
              <a:buNone/>
            </a:pPr>
            <a:r>
              <a:rPr lang="en-US" sz="1600" b="1" dirty="0">
                <a:solidFill>
                  <a:schemeClr val="accent6"/>
                </a:solidFill>
              </a:rPr>
              <a:t>Update</a:t>
            </a:r>
            <a:endParaRPr lang="en-US" sz="1600" dirty="0"/>
          </a:p>
        </p:txBody>
      </p:sp>
      <p:sp>
        <p:nvSpPr>
          <p:cNvPr id="28" name="job FYI noise · counted, never listed"/>
          <p:cNvSpPr/>
          <p:nvPr/>
        </p:nvSpPr>
        <p:spPr>
          <a:xfrm>
            <a:off x="5440680" y="3886200"/>
            <a:ext cx="6172200" cy="960120"/>
          </a:xfrm>
          <a:prstGeom prst="roundRect">
            <a:avLst>
              <a:gd name="adj" fmla="val 11429"/>
            </a:avLst>
          </a:prstGeom>
          <a:solidFill>
            <a:schemeClr val="bg2"/>
          </a:solidFill>
          <a:ln w="15875">
            <a:solidFill>
              <a:schemeClr val="accent6"/>
            </a:solidFill>
            <a:prstDash val="solid"/>
          </a:ln>
        </p:spPr>
      </p:sp>
      <p:sp>
        <p:nvSpPr>
          <p:cNvPr id="29" name="Text 22"/>
          <p:cNvSpPr txBox="1"/>
          <p:nvPr/>
        </p:nvSpPr>
        <p:spPr>
          <a:xfrm>
            <a:off x="5532120" y="3886200"/>
            <a:ext cx="5989320" cy="960120"/>
          </a:xfrm>
          <a:prstGeom prst="rect">
            <a:avLst/>
          </a:prstGeom>
          <a:noFill/>
          <a:ln/>
        </p:spPr>
        <p:txBody>
          <a:bodyPr wrap="square" lIns="0" tIns="0" rIns="0" bIns="0" rtlCol="0" anchor="ctr"/>
          <a:lstStyle/>
          <a:p>
            <a:pPr algn="ctr" indent="0" marL="0">
              <a:buNone/>
            </a:pPr>
            <a:r>
              <a:rPr lang="en-US" sz="1500" b="1" dirty="0">
                <a:solidFill>
                  <a:schemeClr val="accent6"/>
                </a:solidFill>
              </a:rPr>
              <a:t>FYI noise · counted, never listed</a:t>
            </a:r>
            <a:endParaRPr lang="en-US" sz="1500" dirty="0"/>
          </a:p>
        </p:txBody>
      </p:sp>
      <p:sp>
        <p:nvSpPr>
          <p:cNvPr id="30" name="decision banner"/>
          <p:cNvSpPr/>
          <p:nvPr/>
        </p:nvSpPr>
        <p:spPr>
          <a:xfrm>
            <a:off x="548640" y="5440680"/>
            <a:ext cx="11064240" cy="685800"/>
          </a:xfrm>
          <a:prstGeom prst="roundRect">
            <a:avLst>
              <a:gd name="adj" fmla="val 16000"/>
            </a:avLst>
          </a:prstGeom>
          <a:solidFill>
            <a:schemeClr val="tx2"/>
          </a:solidFill>
          <a:ln/>
        </p:spPr>
      </p:sp>
      <p:sp>
        <p:nvSpPr>
          <p:cNvPr id="31" name="Text 24"/>
          <p:cNvSpPr txBox="1"/>
          <p:nvPr/>
        </p:nvSpPr>
        <p:spPr>
          <a:xfrm>
            <a:off x="822960" y="5440680"/>
            <a:ext cx="10607040" cy="685800"/>
          </a:xfrm>
          <a:prstGeom prst="rect">
            <a:avLst/>
          </a:prstGeom>
          <a:noFill/>
          <a:ln/>
        </p:spPr>
        <p:txBody>
          <a:bodyPr wrap="square" lIns="0" tIns="0" rIns="0" bIns="0" rtlCol="0" anchor="ctr"/>
          <a:lstStyle/>
          <a:p>
            <a:pPr indent="0" marL="0">
              <a:buNone/>
            </a:pPr>
            <a:r>
              <a:rPr lang="en-US" sz="1600" b="1" dirty="0">
                <a:solidFill>
                  <a:schemeClr val="accent2"/>
                </a:solidFill>
              </a:rPr>
              <a:t>Decision: aggregate, never replace.  </a:t>
            </a:r>
            <a:pPr indent="0" marL="0">
              <a:buNone/>
            </a:pPr>
            <a:r>
              <a:rPr lang="en-US" sz="1600" dirty="0">
                <a:solidFill>
                  <a:schemeClr val="bg1"/>
                </a:solidFill>
              </a:rPr>
              <a:t>Teams stay in their tools; WorkRadar reads what concerns the PM and links back.</a:t>
            </a:r>
            <a:endParaRPr lang="en-US" sz="16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Five decisions shaped the product</a:t>
            </a:r>
            <a:endParaRPr lang="en-US" sz="3200" dirty="0"/>
          </a:p>
        </p:txBody>
      </p:sp>
      <p:sp>
        <p:nvSpPr>
          <p:cNvPr id="3" name="decision icon 1"/>
          <p:cNvSpPr/>
          <p:nvPr/>
        </p:nvSpPr>
        <p:spPr>
          <a:xfrm>
            <a:off x="548640" y="1444752"/>
            <a:ext cx="640080" cy="640080"/>
          </a:xfrm>
          <a:prstGeom prst="ellipse">
            <a:avLst/>
          </a:prstGeom>
          <a:solidFill>
            <a:schemeClr val="accent1"/>
          </a:solidFill>
          <a:ln/>
        </p:spPr>
      </p:sp>
      <p:pic>
        <p:nvPicPr>
          <p:cNvPr id="4" name="Image 0" descr="Radar, not reader">    </p:cNvPr>
          <p:cNvPicPr>
            <a:picLocks noChangeAspect="1"/>
          </p:cNvPicPr>
          <p:nvPr/>
        </p:nvPicPr>
        <p:blipFill>
          <a:blip r:embed="rId1"/>
          <a:stretch>
            <a:fillRect/>
          </a:stretch>
        </p:blipFill>
        <p:spPr>
          <a:xfrm>
            <a:off x="704088" y="1600200"/>
            <a:ext cx="329184" cy="329184"/>
          </a:xfrm>
          <a:prstGeom prst="rect">
            <a:avLst/>
          </a:prstGeom>
        </p:spPr>
      </p:pic>
      <p:sp>
        <p:nvSpPr>
          <p:cNvPr id="5" name="Text 2"/>
          <p:cNvSpPr txBox="1"/>
          <p:nvPr/>
        </p:nvSpPr>
        <p:spPr>
          <a:xfrm>
            <a:off x="1417320" y="1371600"/>
            <a:ext cx="5120640" cy="822960"/>
          </a:xfrm>
          <a:prstGeom prst="rect">
            <a:avLst/>
          </a:prstGeom>
          <a:noFill/>
          <a:ln/>
        </p:spPr>
        <p:txBody>
          <a:bodyPr wrap="square" lIns="0" tIns="0" rIns="0" bIns="0" rtlCol="0" anchor="t"/>
          <a:lstStyle/>
          <a:p>
            <a:pPr indent="0" marL="0">
              <a:buNone/>
            </a:pPr>
            <a:r>
              <a:rPr lang="en-US" sz="1800" b="1" dirty="0">
                <a:solidFill>
                  <a:schemeClr val="tx2"/>
                </a:solidFill>
              </a:rPr>
              <a:t>Radar, not reader</a:t>
            </a:r>
            <a:endParaRPr lang="en-US" sz="1400" dirty="0"/>
          </a:p>
          <a:p>
            <a:pPr indent="0" marL="0">
              <a:buNone/>
            </a:pPr>
            <a:r>
              <a:rPr lang="en-US" sz="1400" dirty="0">
                <a:solidFill>
                  <a:schemeClr val="accent6"/>
                </a:solidFill>
              </a:rPr>
              <a:t>One line per item: who, what, why, by when</a:t>
            </a:r>
            <a:endParaRPr lang="en-US" sz="1400" dirty="0"/>
          </a:p>
        </p:txBody>
      </p:sp>
      <p:sp>
        <p:nvSpPr>
          <p:cNvPr id="6" name="decision icon 2"/>
          <p:cNvSpPr/>
          <p:nvPr/>
        </p:nvSpPr>
        <p:spPr>
          <a:xfrm>
            <a:off x="548640" y="2377440"/>
            <a:ext cx="640080" cy="640080"/>
          </a:xfrm>
          <a:prstGeom prst="ellipse">
            <a:avLst/>
          </a:prstGeom>
          <a:solidFill>
            <a:schemeClr val="accent1"/>
          </a:solidFill>
          <a:ln/>
        </p:spPr>
      </p:sp>
      <p:pic>
        <p:nvPicPr>
          <p:cNvPr id="7" name="Image 1" descr="Link to the exact message">    </p:cNvPr>
          <p:cNvPicPr>
            <a:picLocks noChangeAspect="1"/>
          </p:cNvPicPr>
          <p:nvPr/>
        </p:nvPicPr>
        <p:blipFill>
          <a:blip r:embed="rId2"/>
          <a:stretch>
            <a:fillRect/>
          </a:stretch>
        </p:blipFill>
        <p:spPr>
          <a:xfrm>
            <a:off x="704088" y="2532888"/>
            <a:ext cx="329184" cy="329184"/>
          </a:xfrm>
          <a:prstGeom prst="rect">
            <a:avLst/>
          </a:prstGeom>
        </p:spPr>
      </p:pic>
      <p:sp>
        <p:nvSpPr>
          <p:cNvPr id="8" name="Text 4"/>
          <p:cNvSpPr txBox="1"/>
          <p:nvPr/>
        </p:nvSpPr>
        <p:spPr>
          <a:xfrm>
            <a:off x="1417320" y="2304288"/>
            <a:ext cx="5120640" cy="822960"/>
          </a:xfrm>
          <a:prstGeom prst="rect">
            <a:avLst/>
          </a:prstGeom>
          <a:noFill/>
          <a:ln/>
        </p:spPr>
        <p:txBody>
          <a:bodyPr wrap="square" lIns="0" tIns="0" rIns="0" bIns="0" rtlCol="0" anchor="t"/>
          <a:lstStyle/>
          <a:p>
            <a:pPr indent="0" marL="0">
              <a:buNone/>
            </a:pPr>
            <a:r>
              <a:rPr lang="en-US" sz="1800" b="1" dirty="0">
                <a:solidFill>
                  <a:schemeClr val="tx2"/>
                </a:solidFill>
              </a:rPr>
              <a:t>Link to the exact message</a:t>
            </a:r>
            <a:endParaRPr lang="en-US" sz="1400" dirty="0"/>
          </a:p>
          <a:p>
            <a:pPr indent="0" marL="0">
              <a:buNone/>
            </a:pPr>
            <a:r>
              <a:rPr lang="en-US" sz="1400" dirty="0">
                <a:solidFill>
                  <a:schemeClr val="accent6"/>
                </a:solidFill>
              </a:rPr>
              <a:t>Reply in Slack, Jira, GitHub or Gmail, not in WorkRadar</a:t>
            </a:r>
            <a:endParaRPr lang="en-US" sz="1400" dirty="0"/>
          </a:p>
        </p:txBody>
      </p:sp>
      <p:sp>
        <p:nvSpPr>
          <p:cNvPr id="9" name="decision icon 3"/>
          <p:cNvSpPr/>
          <p:nvPr/>
        </p:nvSpPr>
        <p:spPr>
          <a:xfrm>
            <a:off x="548640" y="3310128"/>
            <a:ext cx="640080" cy="640080"/>
          </a:xfrm>
          <a:prstGeom prst="ellipse">
            <a:avLst/>
          </a:prstGeom>
          <a:solidFill>
            <a:schemeClr val="accent1"/>
          </a:solidFill>
          <a:ln/>
        </p:spPr>
      </p:sp>
      <p:pic>
        <p:nvPicPr>
          <p:cNvPr id="10" name="Image 2" descr="@pm tags for the team">    </p:cNvPr>
          <p:cNvPicPr>
            <a:picLocks noChangeAspect="1"/>
          </p:cNvPicPr>
          <p:nvPr/>
        </p:nvPicPr>
        <p:blipFill>
          <a:blip r:embed="rId3"/>
          <a:stretch>
            <a:fillRect/>
          </a:stretch>
        </p:blipFill>
        <p:spPr>
          <a:xfrm>
            <a:off x="704088" y="3465576"/>
            <a:ext cx="329184" cy="329184"/>
          </a:xfrm>
          <a:prstGeom prst="rect">
            <a:avLst/>
          </a:prstGeom>
        </p:spPr>
      </p:pic>
      <p:sp>
        <p:nvSpPr>
          <p:cNvPr id="11" name="Text 6"/>
          <p:cNvSpPr txBox="1"/>
          <p:nvPr/>
        </p:nvSpPr>
        <p:spPr>
          <a:xfrm>
            <a:off x="1417320" y="3236976"/>
            <a:ext cx="5120640" cy="822960"/>
          </a:xfrm>
          <a:prstGeom prst="rect">
            <a:avLst/>
          </a:prstGeom>
          <a:noFill/>
          <a:ln/>
        </p:spPr>
        <p:txBody>
          <a:bodyPr wrap="square" lIns="0" tIns="0" rIns="0" bIns="0" rtlCol="0" anchor="t"/>
          <a:lstStyle/>
          <a:p>
            <a:pPr indent="0" marL="0">
              <a:buNone/>
            </a:pPr>
            <a:r>
              <a:rPr lang="en-US" sz="1800" b="1" dirty="0">
                <a:solidFill>
                  <a:schemeClr val="tx2"/>
                </a:solidFill>
              </a:rPr>
              <a:t>@pm tags for the team</a:t>
            </a:r>
            <a:endParaRPr lang="en-US" sz="1400" dirty="0"/>
          </a:p>
          <a:p>
            <a:pPr indent="0" marL="0">
              <a:buNone/>
            </a:pPr>
            <a:r>
              <a:rPr lang="en-US" sz="1400" dirty="0">
                <a:solidFill>
                  <a:schemeClr val="accent6"/>
                </a:solidFill>
              </a:rPr>
              <a:t>@pm blocker · @pm decision · @pm sync beat guessing from chat</a:t>
            </a:r>
            <a:endParaRPr lang="en-US" sz="1400" dirty="0"/>
          </a:p>
        </p:txBody>
      </p:sp>
      <p:sp>
        <p:nvSpPr>
          <p:cNvPr id="12" name="decision icon 4"/>
          <p:cNvSpPr/>
          <p:nvPr/>
        </p:nvSpPr>
        <p:spPr>
          <a:xfrm>
            <a:off x="548640" y="4242816"/>
            <a:ext cx="640080" cy="640080"/>
          </a:xfrm>
          <a:prstGeom prst="ellipse">
            <a:avLst/>
          </a:prstGeom>
          <a:solidFill>
            <a:schemeClr val="accent1"/>
          </a:solidFill>
          <a:ln/>
        </p:spPr>
      </p:sp>
      <p:pic>
        <p:nvPicPr>
          <p:cNvPr id="13" name="Image 3" descr="Privacy by design">    </p:cNvPr>
          <p:cNvPicPr>
            <a:picLocks noChangeAspect="1"/>
          </p:cNvPicPr>
          <p:nvPr/>
        </p:nvPicPr>
        <p:blipFill>
          <a:blip r:embed="rId4"/>
          <a:stretch>
            <a:fillRect/>
          </a:stretch>
        </p:blipFill>
        <p:spPr>
          <a:xfrm>
            <a:off x="704088" y="4398264"/>
            <a:ext cx="329184" cy="329184"/>
          </a:xfrm>
          <a:prstGeom prst="rect">
            <a:avLst/>
          </a:prstGeom>
        </p:spPr>
      </p:pic>
      <p:sp>
        <p:nvSpPr>
          <p:cNvPr id="14" name="Text 8"/>
          <p:cNvSpPr txBox="1"/>
          <p:nvPr/>
        </p:nvSpPr>
        <p:spPr>
          <a:xfrm>
            <a:off x="1417320" y="4169664"/>
            <a:ext cx="5120640" cy="822960"/>
          </a:xfrm>
          <a:prstGeom prst="rect">
            <a:avLst/>
          </a:prstGeom>
          <a:noFill/>
          <a:ln/>
        </p:spPr>
        <p:txBody>
          <a:bodyPr wrap="square" lIns="0" tIns="0" rIns="0" bIns="0" rtlCol="0" anchor="t"/>
          <a:lstStyle/>
          <a:p>
            <a:pPr indent="0" marL="0">
              <a:buNone/>
            </a:pPr>
            <a:r>
              <a:rPr lang="en-US" sz="1800" b="1" dirty="0">
                <a:solidFill>
                  <a:schemeClr val="tx2"/>
                </a:solidFill>
              </a:rPr>
              <a:t>Privacy by design</a:t>
            </a:r>
            <a:endParaRPr lang="en-US" sz="1400" dirty="0"/>
          </a:p>
          <a:p>
            <a:pPr indent="0" marL="0">
              <a:buNone/>
            </a:pPr>
            <a:r>
              <a:rPr lang="en-US" sz="1400" dirty="0">
                <a:solidFill>
                  <a:schemeClr val="accent6"/>
                </a:solidFill>
              </a:rPr>
              <a:t>Read only PM-addressed items; never store message bodies</a:t>
            </a:r>
            <a:endParaRPr lang="en-US" sz="1400" dirty="0"/>
          </a:p>
        </p:txBody>
      </p:sp>
      <p:sp>
        <p:nvSpPr>
          <p:cNvPr id="15" name="decision icon 5"/>
          <p:cNvSpPr/>
          <p:nvPr/>
        </p:nvSpPr>
        <p:spPr>
          <a:xfrm>
            <a:off x="548640" y="5175504"/>
            <a:ext cx="640080" cy="640080"/>
          </a:xfrm>
          <a:prstGeom prst="ellipse">
            <a:avLst/>
          </a:prstGeom>
          <a:solidFill>
            <a:schemeClr val="accent1"/>
          </a:solidFill>
          <a:ln/>
        </p:spPr>
      </p:sp>
      <p:pic>
        <p:nvPicPr>
          <p:cNvPr id="16" name="Image 4" descr="Nothing is deleted">    </p:cNvPr>
          <p:cNvPicPr>
            <a:picLocks noChangeAspect="1"/>
          </p:cNvPicPr>
          <p:nvPr/>
        </p:nvPicPr>
        <p:blipFill>
          <a:blip r:embed="rId5"/>
          <a:stretch>
            <a:fillRect/>
          </a:stretch>
        </p:blipFill>
        <p:spPr>
          <a:xfrm>
            <a:off x="704088" y="5330952"/>
            <a:ext cx="329184" cy="329184"/>
          </a:xfrm>
          <a:prstGeom prst="rect">
            <a:avLst/>
          </a:prstGeom>
        </p:spPr>
      </p:pic>
      <p:sp>
        <p:nvSpPr>
          <p:cNvPr id="17" name="Text 10"/>
          <p:cNvSpPr txBox="1"/>
          <p:nvPr/>
        </p:nvSpPr>
        <p:spPr>
          <a:xfrm>
            <a:off x="1417320" y="5102352"/>
            <a:ext cx="5120640" cy="822960"/>
          </a:xfrm>
          <a:prstGeom prst="rect">
            <a:avLst/>
          </a:prstGeom>
          <a:noFill/>
          <a:ln/>
        </p:spPr>
        <p:txBody>
          <a:bodyPr wrap="square" lIns="0" tIns="0" rIns="0" bIns="0" rtlCol="0" anchor="t"/>
          <a:lstStyle/>
          <a:p>
            <a:pPr indent="0" marL="0">
              <a:buNone/>
            </a:pPr>
            <a:r>
              <a:rPr lang="en-US" sz="1800" b="1" dirty="0">
                <a:solidFill>
                  <a:schemeClr val="tx2"/>
                </a:solidFill>
              </a:rPr>
              <a:t>Nothing is deleted</a:t>
            </a:r>
            <a:endParaRPr lang="en-US" sz="1400" dirty="0"/>
          </a:p>
          <a:p>
            <a:pPr indent="0" marL="0">
              <a:buNone/>
            </a:pPr>
            <a:r>
              <a:rPr lang="en-US" sz="1400" dirty="0">
                <a:solidFill>
                  <a:schemeClr val="accent6"/>
                </a:solidFill>
              </a:rPr>
              <a:t>Every action has Undo; the Activity Log can restore anything</a:t>
            </a:r>
            <a:endParaRPr lang="en-US" sz="1400" dirty="0"/>
          </a:p>
        </p:txBody>
      </p:sp>
      <p:sp>
        <p:nvSpPr>
          <p:cNvPr id="18" name="radar item example"/>
          <p:cNvSpPr/>
          <p:nvPr/>
        </p:nvSpPr>
        <p:spPr>
          <a:xfrm>
            <a:off x="6949440" y="1463040"/>
            <a:ext cx="4663440" cy="3429000"/>
          </a:xfrm>
          <a:prstGeom prst="roundRect">
            <a:avLst>
              <a:gd name="adj" fmla="val 3200"/>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9" name="Text 12"/>
          <p:cNvSpPr txBox="1"/>
          <p:nvPr/>
        </p:nvSpPr>
        <p:spPr>
          <a:xfrm>
            <a:off x="7223760" y="1691640"/>
            <a:ext cx="4206240" cy="320040"/>
          </a:xfrm>
          <a:prstGeom prst="rect">
            <a:avLst/>
          </a:prstGeom>
          <a:noFill/>
          <a:ln/>
        </p:spPr>
        <p:txBody>
          <a:bodyPr wrap="square" lIns="0" tIns="0" rIns="0" bIns="0" rtlCol="0" anchor="t"/>
          <a:lstStyle/>
          <a:p>
            <a:pPr indent="0" marL="0">
              <a:buNone/>
            </a:pPr>
            <a:r>
              <a:rPr lang="en-US" sz="1100" b="1" spc="200" kern="0" dirty="0">
                <a:solidFill>
                  <a:schemeClr val="accent6"/>
                </a:solidFill>
              </a:rPr>
              <a:t>WHAT ONE RADAR ITEM LOOKS LIKE</a:t>
            </a:r>
            <a:endParaRPr lang="en-US" sz="1100" dirty="0"/>
          </a:p>
        </p:txBody>
      </p:sp>
      <p:sp>
        <p:nvSpPr>
          <p:cNvPr id="20" name="P1 chip"/>
          <p:cNvSpPr/>
          <p:nvPr/>
        </p:nvSpPr>
        <p:spPr>
          <a:xfrm>
            <a:off x="7223760" y="2148840"/>
            <a:ext cx="1234440" cy="365760"/>
          </a:xfrm>
          <a:prstGeom prst="roundRect">
            <a:avLst>
              <a:gd name="adj" fmla="val 15000"/>
            </a:avLst>
          </a:prstGeom>
          <a:solidFill>
            <a:srgbClr val="FEE4E2"/>
          </a:solidFill>
          <a:ln/>
        </p:spPr>
      </p:sp>
      <p:sp>
        <p:nvSpPr>
          <p:cNvPr id="21" name="Text 14"/>
          <p:cNvSpPr txBox="1"/>
          <p:nvPr/>
        </p:nvSpPr>
        <p:spPr>
          <a:xfrm>
            <a:off x="7223760" y="2148840"/>
            <a:ext cx="1234440" cy="365760"/>
          </a:xfrm>
          <a:prstGeom prst="rect">
            <a:avLst/>
          </a:prstGeom>
          <a:noFill/>
          <a:ln/>
        </p:spPr>
        <p:txBody>
          <a:bodyPr wrap="square" lIns="0" tIns="0" rIns="0" bIns="0" rtlCol="0" anchor="ctr"/>
          <a:lstStyle/>
          <a:p>
            <a:pPr algn="ctr" indent="0" marL="0">
              <a:buNone/>
            </a:pPr>
            <a:r>
              <a:rPr lang="en-US" sz="1200" b="1" dirty="0">
                <a:solidFill>
                  <a:srgbClr val="B42318"/>
                </a:solidFill>
              </a:rPr>
              <a:t>P1 Critical</a:t>
            </a:r>
            <a:endParaRPr lang="en-US" sz="1200" dirty="0"/>
          </a:p>
        </p:txBody>
      </p:sp>
      <p:sp>
        <p:nvSpPr>
          <p:cNvPr id="22" name="Blocked chip"/>
          <p:cNvSpPr/>
          <p:nvPr/>
        </p:nvSpPr>
        <p:spPr>
          <a:xfrm>
            <a:off x="8549640" y="2148840"/>
            <a:ext cx="1005840" cy="365760"/>
          </a:xfrm>
          <a:prstGeom prst="roundRect">
            <a:avLst>
              <a:gd name="adj" fmla="val 15000"/>
            </a:avLst>
          </a:prstGeom>
          <a:solidFill>
            <a:srgbClr val="FDF2FA"/>
          </a:solidFill>
          <a:ln/>
        </p:spPr>
      </p:sp>
      <p:sp>
        <p:nvSpPr>
          <p:cNvPr id="23" name="Text 16"/>
          <p:cNvSpPr txBox="1"/>
          <p:nvPr/>
        </p:nvSpPr>
        <p:spPr>
          <a:xfrm>
            <a:off x="8549640" y="2148840"/>
            <a:ext cx="1005840" cy="365760"/>
          </a:xfrm>
          <a:prstGeom prst="rect">
            <a:avLst/>
          </a:prstGeom>
          <a:noFill/>
          <a:ln/>
        </p:spPr>
        <p:txBody>
          <a:bodyPr wrap="square" lIns="0" tIns="0" rIns="0" bIns="0" rtlCol="0" anchor="ctr"/>
          <a:lstStyle/>
          <a:p>
            <a:pPr algn="ctr" indent="0" marL="0">
              <a:buNone/>
            </a:pPr>
            <a:r>
              <a:rPr lang="en-US" sz="1200" b="1" dirty="0">
                <a:solidFill>
                  <a:srgbClr val="C11574"/>
                </a:solidFill>
              </a:rPr>
              <a:t>Blocked</a:t>
            </a:r>
            <a:endParaRPr lang="en-US" sz="1200" dirty="0"/>
          </a:p>
        </p:txBody>
      </p:sp>
      <p:sp>
        <p:nvSpPr>
          <p:cNvPr id="24" name="Text 17"/>
          <p:cNvSpPr txBox="1"/>
          <p:nvPr/>
        </p:nvSpPr>
        <p:spPr>
          <a:xfrm>
            <a:off x="7223760" y="2697480"/>
            <a:ext cx="4206240" cy="685800"/>
          </a:xfrm>
          <a:prstGeom prst="rect">
            <a:avLst/>
          </a:prstGeom>
          <a:noFill/>
          <a:ln/>
        </p:spPr>
        <p:txBody>
          <a:bodyPr wrap="square" lIns="0" tIns="0" rIns="0" bIns="0" rtlCol="0" anchor="t"/>
          <a:lstStyle/>
          <a:p>
            <a:pPr indent="0" marL="0">
              <a:buNone/>
            </a:pPr>
            <a:r>
              <a:rPr lang="en-US" sz="1700" b="1" dirty="0">
                <a:solidFill>
                  <a:schemeClr val="tx1"/>
                </a:solidFill>
              </a:rPr>
              <a:t>Rahul waiting on SSO API keys from Platform Security</a:t>
            </a:r>
            <a:endParaRPr lang="en-US" sz="1700" dirty="0"/>
          </a:p>
        </p:txBody>
      </p:sp>
      <p:sp>
        <p:nvSpPr>
          <p:cNvPr id="25" name="Text 18"/>
          <p:cNvSpPr txBox="1"/>
          <p:nvPr/>
        </p:nvSpPr>
        <p:spPr>
          <a:xfrm>
            <a:off x="7223760" y="3429000"/>
            <a:ext cx="4206240" cy="365760"/>
          </a:xfrm>
          <a:prstGeom prst="rect">
            <a:avLst/>
          </a:prstGeom>
          <a:noFill/>
          <a:ln/>
        </p:spPr>
        <p:txBody>
          <a:bodyPr wrap="square" lIns="0" tIns="0" rIns="0" bIns="0" rtlCol="0" anchor="t"/>
          <a:lstStyle/>
          <a:p>
            <a:pPr indent="0" marL="0">
              <a:buNone/>
            </a:pPr>
            <a:r>
              <a:rPr lang="en-US" sz="1400" dirty="0">
                <a:solidFill>
                  <a:schemeClr val="accent1"/>
                </a:solidFill>
              </a:rPr>
              <a:t>why: waiting 2 days · sprint goal at risk</a:t>
            </a:r>
            <a:endParaRPr lang="en-US" sz="1400" dirty="0"/>
          </a:p>
        </p:txBody>
      </p:sp>
      <p:sp>
        <p:nvSpPr>
          <p:cNvPr id="26" name="Text 19"/>
          <p:cNvSpPr txBox="1"/>
          <p:nvPr/>
        </p:nvSpPr>
        <p:spPr>
          <a:xfrm>
            <a:off x="7223760" y="3886200"/>
            <a:ext cx="2194560" cy="36576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JIRA · AUTH-221</a:t>
            </a:r>
            <a:endParaRPr lang="en-US" sz="1200" dirty="0"/>
          </a:p>
        </p:txBody>
      </p:sp>
      <p:sp>
        <p:nvSpPr>
          <p:cNvPr id="27" name="open in Jira button"/>
          <p:cNvSpPr/>
          <p:nvPr/>
        </p:nvSpPr>
        <p:spPr>
          <a:xfrm>
            <a:off x="9646920" y="3840480"/>
            <a:ext cx="1783080" cy="457200"/>
          </a:xfrm>
          <a:prstGeom prst="roundRect">
            <a:avLst>
              <a:gd name="adj" fmla="val 16000"/>
            </a:avLst>
          </a:prstGeom>
          <a:solidFill>
            <a:schemeClr val="accent1"/>
          </a:solidFill>
          <a:ln/>
        </p:spPr>
      </p:sp>
      <p:sp>
        <p:nvSpPr>
          <p:cNvPr id="28" name="Text 21"/>
          <p:cNvSpPr txBox="1"/>
          <p:nvPr/>
        </p:nvSpPr>
        <p:spPr>
          <a:xfrm>
            <a:off x="9646920" y="3840480"/>
            <a:ext cx="1783080" cy="457200"/>
          </a:xfrm>
          <a:prstGeom prst="rect">
            <a:avLst/>
          </a:prstGeom>
          <a:noFill/>
          <a:ln/>
        </p:spPr>
        <p:txBody>
          <a:bodyPr wrap="square" lIns="0" tIns="0" rIns="0" bIns="0" rtlCol="0" anchor="ctr"/>
          <a:lstStyle/>
          <a:p>
            <a:pPr algn="ctr" indent="0" marL="0">
              <a:buNone/>
            </a:pPr>
            <a:r>
              <a:rPr lang="en-US" sz="1300" b="1" dirty="0">
                <a:solidFill>
                  <a:schemeClr val="bg1"/>
                </a:solidFill>
              </a:rPr>
              <a:t>Open in Jira ↗</a:t>
            </a:r>
            <a:endParaRPr lang="en-US" sz="1300" dirty="0"/>
          </a:p>
        </p:txBody>
      </p:sp>
      <p:sp>
        <p:nvSpPr>
          <p:cNvPr id="29" name="Text 22"/>
          <p:cNvSpPr txBox="1"/>
          <p:nvPr/>
        </p:nvSpPr>
        <p:spPr>
          <a:xfrm>
            <a:off x="6949440" y="5120640"/>
            <a:ext cx="4663440" cy="457200"/>
          </a:xfrm>
          <a:prstGeom prst="rect">
            <a:avLst/>
          </a:prstGeom>
          <a:noFill/>
          <a:ln/>
        </p:spPr>
        <p:txBody>
          <a:bodyPr wrap="square" lIns="0" tIns="0" rIns="0" bIns="0" rtlCol="0" anchor="t"/>
          <a:lstStyle/>
          <a:p>
            <a:pPr algn="ctr" indent="0" marL="0">
              <a:buNone/>
            </a:pPr>
            <a:r>
              <a:rPr lang="en-US" sz="1400" i="1" dirty="0">
                <a:solidFill>
                  <a:schemeClr val="accent1"/>
                </a:solidFill>
              </a:rPr>
              <a:t>Five seconds to read · one click to act in the right tool</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 transparent score decides what comes first</a:t>
            </a:r>
            <a:endParaRPr lang="en-US" sz="3200" dirty="0"/>
          </a:p>
        </p:txBody>
      </p:sp>
      <p:sp>
        <p:nvSpPr>
          <p:cNvPr id="3" name="Type part"/>
          <p:cNvSpPr/>
          <p:nvPr/>
        </p:nvSpPr>
        <p:spPr>
          <a:xfrm>
            <a:off x="548640" y="1417320"/>
            <a:ext cx="2103120" cy="2148840"/>
          </a:xfrm>
          <a:prstGeom prst="roundRect">
            <a:avLst>
              <a:gd name="adj" fmla="val 5217"/>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4" name="Text 2"/>
          <p:cNvSpPr txBox="1"/>
          <p:nvPr/>
        </p:nvSpPr>
        <p:spPr>
          <a:xfrm>
            <a:off x="731520" y="1572768"/>
            <a:ext cx="17373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Type</a:t>
            </a:r>
            <a:endParaRPr lang="en-US" sz="2200" dirty="0"/>
          </a:p>
        </p:txBody>
      </p:sp>
      <p:sp>
        <p:nvSpPr>
          <p:cNvPr id="5" name="Text 3"/>
          <p:cNvSpPr txBox="1"/>
          <p:nvPr/>
        </p:nvSpPr>
        <p:spPr>
          <a:xfrm>
            <a:off x="731520" y="2103120"/>
            <a:ext cx="1783080" cy="1371600"/>
          </a:xfrm>
          <a:prstGeom prst="rect">
            <a:avLst/>
          </a:prstGeom>
          <a:noFill/>
          <a:ln/>
        </p:spPr>
        <p:txBody>
          <a:bodyPr wrap="square" lIns="0" tIns="0" rIns="0" bIns="0" rtlCol="0" anchor="t"/>
          <a:lstStyle/>
          <a:p>
            <a:pPr indent="0" marL="0">
              <a:buNone/>
            </a:pPr>
            <a:r>
              <a:rPr lang="en-US" sz="1300" dirty="0">
                <a:solidFill>
                  <a:schemeClr val="tx1"/>
                </a:solidFill>
              </a:rPr>
              <a:t>Escalation 35 · Blocker 32 · Approval 25 · Ask 18 · Meeting 15</a:t>
            </a:r>
            <a:endParaRPr lang="en-US" sz="1300" dirty="0"/>
          </a:p>
        </p:txBody>
      </p:sp>
      <p:sp>
        <p:nvSpPr>
          <p:cNvPr id="6" name="Urgency part"/>
          <p:cNvSpPr/>
          <p:nvPr/>
        </p:nvSpPr>
        <p:spPr>
          <a:xfrm>
            <a:off x="2816352" y="1417320"/>
            <a:ext cx="2103120" cy="2148840"/>
          </a:xfrm>
          <a:prstGeom prst="roundRect">
            <a:avLst>
              <a:gd name="adj" fmla="val 5217"/>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7" name="Text 5"/>
          <p:cNvSpPr txBox="1"/>
          <p:nvPr/>
        </p:nvSpPr>
        <p:spPr>
          <a:xfrm>
            <a:off x="2999232" y="1572768"/>
            <a:ext cx="17373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Urgency</a:t>
            </a:r>
            <a:endParaRPr lang="en-US" sz="2200" dirty="0"/>
          </a:p>
        </p:txBody>
      </p:sp>
      <p:sp>
        <p:nvSpPr>
          <p:cNvPr id="8" name="Text 6"/>
          <p:cNvSpPr txBox="1"/>
          <p:nvPr/>
        </p:nvSpPr>
        <p:spPr>
          <a:xfrm>
            <a:off x="2999232" y="2103120"/>
            <a:ext cx="1783080" cy="1371600"/>
          </a:xfrm>
          <a:prstGeom prst="rect">
            <a:avLst/>
          </a:prstGeom>
          <a:noFill/>
          <a:ln/>
        </p:spPr>
        <p:txBody>
          <a:bodyPr wrap="square" lIns="0" tIns="0" rIns="0" bIns="0" rtlCol="0" anchor="t"/>
          <a:lstStyle/>
          <a:p>
            <a:pPr indent="0" marL="0">
              <a:buNone/>
            </a:pPr>
            <a:r>
              <a:rPr lang="en-US" sz="1300" dirty="0">
                <a:solidFill>
                  <a:schemeClr val="tx1"/>
                </a:solidFill>
              </a:rPr>
              <a:t>Overdue 25 · Today 20 · Tomorrow 12 · This week 6</a:t>
            </a:r>
            <a:endParaRPr lang="en-US" sz="1300" dirty="0"/>
          </a:p>
        </p:txBody>
      </p:sp>
      <p:sp>
        <p:nvSpPr>
          <p:cNvPr id="9" name="Sender part"/>
          <p:cNvSpPr/>
          <p:nvPr/>
        </p:nvSpPr>
        <p:spPr>
          <a:xfrm>
            <a:off x="5084064" y="1417320"/>
            <a:ext cx="2103120" cy="2148840"/>
          </a:xfrm>
          <a:prstGeom prst="roundRect">
            <a:avLst>
              <a:gd name="adj" fmla="val 5217"/>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0" name="Text 8"/>
          <p:cNvSpPr txBox="1"/>
          <p:nvPr/>
        </p:nvSpPr>
        <p:spPr>
          <a:xfrm>
            <a:off x="5266944" y="1572768"/>
            <a:ext cx="17373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Sender</a:t>
            </a:r>
            <a:endParaRPr lang="en-US" sz="2200" dirty="0"/>
          </a:p>
        </p:txBody>
      </p:sp>
      <p:sp>
        <p:nvSpPr>
          <p:cNvPr id="11" name="Text 9"/>
          <p:cNvSpPr txBox="1"/>
          <p:nvPr/>
        </p:nvSpPr>
        <p:spPr>
          <a:xfrm>
            <a:off x="5266944" y="2103120"/>
            <a:ext cx="1783080" cy="1371600"/>
          </a:xfrm>
          <a:prstGeom prst="rect">
            <a:avLst/>
          </a:prstGeom>
          <a:noFill/>
          <a:ln/>
        </p:spPr>
        <p:txBody>
          <a:bodyPr wrap="square" lIns="0" tIns="0" rIns="0" bIns="0" rtlCol="0" anchor="t"/>
          <a:lstStyle/>
          <a:p>
            <a:pPr indent="0" marL="0">
              <a:buNone/>
            </a:pPr>
            <a:r>
              <a:rPr lang="en-US" sz="1300" dirty="0">
                <a:solidFill>
                  <a:schemeClr val="tx1"/>
                </a:solidFill>
              </a:rPr>
              <a:t>Founder or customer 15 · Leadership 10 · Lead 5 · @pm tag +5</a:t>
            </a:r>
            <a:endParaRPr lang="en-US" sz="1300" dirty="0"/>
          </a:p>
        </p:txBody>
      </p:sp>
      <p:sp>
        <p:nvSpPr>
          <p:cNvPr id="12" name="Waiting part"/>
          <p:cNvSpPr/>
          <p:nvPr/>
        </p:nvSpPr>
        <p:spPr>
          <a:xfrm>
            <a:off x="7351776" y="1417320"/>
            <a:ext cx="2103120" cy="2148840"/>
          </a:xfrm>
          <a:prstGeom prst="roundRect">
            <a:avLst>
              <a:gd name="adj" fmla="val 5217"/>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3" name="Text 11"/>
          <p:cNvSpPr txBox="1"/>
          <p:nvPr/>
        </p:nvSpPr>
        <p:spPr>
          <a:xfrm>
            <a:off x="7534656" y="1572768"/>
            <a:ext cx="17373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Waiting</a:t>
            </a:r>
            <a:endParaRPr lang="en-US" sz="2200" dirty="0"/>
          </a:p>
        </p:txBody>
      </p:sp>
      <p:sp>
        <p:nvSpPr>
          <p:cNvPr id="14" name="Text 12"/>
          <p:cNvSpPr txBox="1"/>
          <p:nvPr/>
        </p:nvSpPr>
        <p:spPr>
          <a:xfrm>
            <a:off x="7534656" y="2103120"/>
            <a:ext cx="1783080" cy="1371600"/>
          </a:xfrm>
          <a:prstGeom prst="rect">
            <a:avLst/>
          </a:prstGeom>
          <a:noFill/>
          <a:ln/>
        </p:spPr>
        <p:txBody>
          <a:bodyPr wrap="square" lIns="0" tIns="0" rIns="0" bIns="0" rtlCol="0" anchor="t"/>
          <a:lstStyle/>
          <a:p>
            <a:pPr indent="0" marL="0">
              <a:buNone/>
            </a:pPr>
            <a:r>
              <a:rPr lang="en-US" sz="1300" dirty="0">
                <a:solidFill>
                  <a:schemeClr val="tx1"/>
                </a:solidFill>
              </a:rPr>
              <a:t>2–8 h 5 · 8–24 h 10 · 1–2 days 15 · over 2 days 20</a:t>
            </a:r>
            <a:endParaRPr lang="en-US" sz="1300" dirty="0"/>
          </a:p>
        </p:txBody>
      </p:sp>
      <p:sp>
        <p:nvSpPr>
          <p:cNvPr id="15" name="Impact part"/>
          <p:cNvSpPr/>
          <p:nvPr/>
        </p:nvSpPr>
        <p:spPr>
          <a:xfrm>
            <a:off x="9619488" y="1417320"/>
            <a:ext cx="2103120" cy="2148840"/>
          </a:xfrm>
          <a:prstGeom prst="roundRect">
            <a:avLst>
              <a:gd name="adj" fmla="val 5217"/>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6" name="Text 14"/>
          <p:cNvSpPr txBox="1"/>
          <p:nvPr/>
        </p:nvSpPr>
        <p:spPr>
          <a:xfrm>
            <a:off x="9802368" y="1572768"/>
            <a:ext cx="17373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Impact</a:t>
            </a:r>
            <a:endParaRPr lang="en-US" sz="2200" dirty="0"/>
          </a:p>
        </p:txBody>
      </p:sp>
      <p:sp>
        <p:nvSpPr>
          <p:cNvPr id="17" name="Text 15"/>
          <p:cNvSpPr txBox="1"/>
          <p:nvPr/>
        </p:nvSpPr>
        <p:spPr>
          <a:xfrm>
            <a:off x="9802368" y="2103120"/>
            <a:ext cx="1783080" cy="1371600"/>
          </a:xfrm>
          <a:prstGeom prst="rect">
            <a:avLst/>
          </a:prstGeom>
          <a:noFill/>
          <a:ln/>
        </p:spPr>
        <p:txBody>
          <a:bodyPr wrap="square" lIns="0" tIns="0" rIns="0" bIns="0" rtlCol="0" anchor="t"/>
          <a:lstStyle/>
          <a:p>
            <a:pPr indent="0" marL="0">
              <a:buNone/>
            </a:pPr>
            <a:r>
              <a:rPr lang="en-US" sz="1300" dirty="0">
                <a:solidFill>
                  <a:schemeClr val="tx1"/>
                </a:solidFill>
              </a:rPr>
              <a:t>Release or revenue 15 · Sprint goal 10 · One person 5</a:t>
            </a:r>
            <a:endParaRPr lang="en-US" sz="1300" dirty="0"/>
          </a:p>
        </p:txBody>
      </p:sp>
      <p:sp>
        <p:nvSpPr>
          <p:cNvPr id="18" name="P1 Critical band"/>
          <p:cNvSpPr/>
          <p:nvPr/>
        </p:nvSpPr>
        <p:spPr>
          <a:xfrm>
            <a:off x="548640" y="3931920"/>
            <a:ext cx="2194560" cy="1097280"/>
          </a:xfrm>
          <a:prstGeom prst="roundRect">
            <a:avLst>
              <a:gd name="adj" fmla="val 8333"/>
            </a:avLst>
          </a:prstGeom>
          <a:solidFill>
            <a:srgbClr val="FEE4E2"/>
          </a:solidFill>
          <a:ln/>
        </p:spPr>
      </p:sp>
      <p:sp>
        <p:nvSpPr>
          <p:cNvPr id="19" name="Text 17"/>
          <p:cNvSpPr txBox="1"/>
          <p:nvPr/>
        </p:nvSpPr>
        <p:spPr>
          <a:xfrm>
            <a:off x="731520" y="4005072"/>
            <a:ext cx="1920240" cy="960120"/>
          </a:xfrm>
          <a:prstGeom prst="rect">
            <a:avLst/>
          </a:prstGeom>
          <a:noFill/>
          <a:ln/>
        </p:spPr>
        <p:txBody>
          <a:bodyPr wrap="square" lIns="0" tIns="0" rIns="0" bIns="0" rtlCol="0" anchor="ctr"/>
          <a:lstStyle/>
          <a:p>
            <a:pPr indent="0" marL="0">
              <a:buNone/>
            </a:pPr>
            <a:r>
              <a:rPr lang="en-US" sz="1800" b="1" dirty="0">
                <a:solidFill>
                  <a:srgbClr val="B42318"/>
                </a:solidFill>
              </a:rPr>
              <a:t>P1 Critical</a:t>
            </a:r>
            <a:endParaRPr lang="en-US" sz="1400" dirty="0"/>
          </a:p>
          <a:p>
            <a:pPr indent="0" marL="0">
              <a:buNone/>
            </a:pPr>
            <a:r>
              <a:rPr lang="en-US" sz="1300" dirty="0">
                <a:solidFill>
                  <a:srgbClr val="B42318"/>
                </a:solidFill>
              </a:rPr>
              <a:t>score 70 or more</a:t>
            </a:r>
            <a:endParaRPr lang="en-US" sz="1400" dirty="0"/>
          </a:p>
        </p:txBody>
      </p:sp>
      <p:sp>
        <p:nvSpPr>
          <p:cNvPr id="20" name="P2 High band"/>
          <p:cNvSpPr/>
          <p:nvPr/>
        </p:nvSpPr>
        <p:spPr>
          <a:xfrm>
            <a:off x="2926080" y="3931920"/>
            <a:ext cx="2194560" cy="1097280"/>
          </a:xfrm>
          <a:prstGeom prst="roundRect">
            <a:avLst>
              <a:gd name="adj" fmla="val 8333"/>
            </a:avLst>
          </a:prstGeom>
          <a:solidFill>
            <a:srgbClr val="FFE6D5"/>
          </a:solidFill>
          <a:ln/>
        </p:spPr>
      </p:sp>
      <p:sp>
        <p:nvSpPr>
          <p:cNvPr id="21" name="Text 19"/>
          <p:cNvSpPr txBox="1"/>
          <p:nvPr/>
        </p:nvSpPr>
        <p:spPr>
          <a:xfrm>
            <a:off x="3108960" y="4005072"/>
            <a:ext cx="1920240" cy="960120"/>
          </a:xfrm>
          <a:prstGeom prst="rect">
            <a:avLst/>
          </a:prstGeom>
          <a:noFill/>
          <a:ln/>
        </p:spPr>
        <p:txBody>
          <a:bodyPr wrap="square" lIns="0" tIns="0" rIns="0" bIns="0" rtlCol="0" anchor="ctr"/>
          <a:lstStyle/>
          <a:p>
            <a:pPr indent="0" marL="0">
              <a:buNone/>
            </a:pPr>
            <a:r>
              <a:rPr lang="en-US" sz="1800" b="1" dirty="0">
                <a:solidFill>
                  <a:srgbClr val="C4320A"/>
                </a:solidFill>
              </a:rPr>
              <a:t>P2 High</a:t>
            </a:r>
            <a:endParaRPr lang="en-US" sz="1400" dirty="0"/>
          </a:p>
          <a:p>
            <a:pPr indent="0" marL="0">
              <a:buNone/>
            </a:pPr>
            <a:r>
              <a:rPr lang="en-US" sz="1300" dirty="0">
                <a:solidFill>
                  <a:srgbClr val="C4320A"/>
                </a:solidFill>
              </a:rPr>
              <a:t>40 to 69</a:t>
            </a:r>
            <a:endParaRPr lang="en-US" sz="1400" dirty="0"/>
          </a:p>
        </p:txBody>
      </p:sp>
      <p:sp>
        <p:nvSpPr>
          <p:cNvPr id="22" name="P3 Normal band"/>
          <p:cNvSpPr/>
          <p:nvPr/>
        </p:nvSpPr>
        <p:spPr>
          <a:xfrm>
            <a:off x="5303520" y="3931920"/>
            <a:ext cx="2194560" cy="1097280"/>
          </a:xfrm>
          <a:prstGeom prst="roundRect">
            <a:avLst>
              <a:gd name="adj" fmla="val 8333"/>
            </a:avLst>
          </a:prstGeom>
          <a:solidFill>
            <a:srgbClr val="F2F4F7"/>
          </a:solidFill>
          <a:ln/>
        </p:spPr>
      </p:sp>
      <p:sp>
        <p:nvSpPr>
          <p:cNvPr id="23" name="Text 21"/>
          <p:cNvSpPr txBox="1"/>
          <p:nvPr/>
        </p:nvSpPr>
        <p:spPr>
          <a:xfrm>
            <a:off x="5486400" y="4005072"/>
            <a:ext cx="1920240" cy="960120"/>
          </a:xfrm>
          <a:prstGeom prst="rect">
            <a:avLst/>
          </a:prstGeom>
          <a:noFill/>
          <a:ln/>
        </p:spPr>
        <p:txBody>
          <a:bodyPr wrap="square" lIns="0" tIns="0" rIns="0" bIns="0" rtlCol="0" anchor="ctr"/>
          <a:lstStyle/>
          <a:p>
            <a:pPr indent="0" marL="0">
              <a:buNone/>
            </a:pPr>
            <a:r>
              <a:rPr lang="en-US" sz="1800" b="1" dirty="0">
                <a:solidFill>
                  <a:srgbClr val="475467"/>
                </a:solidFill>
              </a:rPr>
              <a:t>P3 Normal</a:t>
            </a:r>
            <a:endParaRPr lang="en-US" sz="1400" dirty="0"/>
          </a:p>
          <a:p>
            <a:pPr indent="0" marL="0">
              <a:buNone/>
            </a:pPr>
            <a:r>
              <a:rPr lang="en-US" sz="1300" dirty="0">
                <a:solidFill>
                  <a:srgbClr val="475467"/>
                </a:solidFill>
              </a:rPr>
              <a:t>below 40 · collapsed</a:t>
            </a:r>
            <a:endParaRPr lang="en-US" sz="1400" dirty="0"/>
          </a:p>
        </p:txBody>
      </p:sp>
      <p:sp>
        <p:nvSpPr>
          <p:cNvPr id="24" name="worked example"/>
          <p:cNvSpPr/>
          <p:nvPr/>
        </p:nvSpPr>
        <p:spPr>
          <a:xfrm>
            <a:off x="7863840" y="3931920"/>
            <a:ext cx="3749040" cy="1920240"/>
          </a:xfrm>
          <a:prstGeom prst="roundRect">
            <a:avLst>
              <a:gd name="adj" fmla="val 5714"/>
            </a:avLst>
          </a:prstGeom>
          <a:solidFill>
            <a:schemeClr val="tx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25" name="Text 23"/>
          <p:cNvSpPr txBox="1"/>
          <p:nvPr/>
        </p:nvSpPr>
        <p:spPr>
          <a:xfrm>
            <a:off x="8138160" y="4069080"/>
            <a:ext cx="3291840" cy="1645920"/>
          </a:xfrm>
          <a:prstGeom prst="rect">
            <a:avLst/>
          </a:prstGeom>
          <a:noFill/>
          <a:ln/>
        </p:spPr>
        <p:txBody>
          <a:bodyPr wrap="square" lIns="0" tIns="0" rIns="0" bIns="0" rtlCol="0" anchor="ctr"/>
          <a:lstStyle/>
          <a:p>
            <a:pPr indent="0" marL="0">
              <a:spcAft>
                <a:spcPts val="400"/>
              </a:spcAft>
              <a:buNone/>
            </a:pPr>
            <a:r>
              <a:rPr lang="en-US" sz="1400" b="1" dirty="0">
                <a:solidFill>
                  <a:schemeClr val="accent2"/>
                </a:solidFill>
              </a:rPr>
              <a:t>Worked example</a:t>
            </a:r>
            <a:endParaRPr lang="en-US" sz="1400" dirty="0"/>
          </a:p>
          <a:p>
            <a:pPr indent="0" marL="0">
              <a:spcAft>
                <a:spcPts val="400"/>
              </a:spcAft>
              <a:buNone/>
            </a:pPr>
            <a:r>
              <a:rPr lang="en-US" sz="1500" dirty="0">
                <a:solidFill>
                  <a:schemeClr val="bg1"/>
                </a:solidFill>
              </a:rPr>
              <a:t>Rahul blocked on SSO keys</a:t>
            </a:r>
            <a:endParaRPr lang="en-US" sz="1400" dirty="0"/>
          </a:p>
          <a:p>
            <a:pPr indent="0" marL="0">
              <a:spcAft>
                <a:spcPts val="400"/>
              </a:spcAft>
              <a:buNone/>
            </a:pPr>
            <a:r>
              <a:rPr lang="en-US" sz="2000" b="1" dirty="0">
                <a:solidFill>
                  <a:schemeClr val="accent3"/>
                </a:solidFill>
              </a:rPr>
              <a:t>32 + 6 + 5 + 20 + 10 = 73  →  P1</a:t>
            </a:r>
            <a:endParaRPr lang="en-US" sz="1400" dirty="0"/>
          </a:p>
        </p:txBody>
      </p:sp>
      <p:sp>
        <p:nvSpPr>
          <p:cNvPr id="26" name="Text 24"/>
          <p:cNvSpPr txBox="1"/>
          <p:nvPr/>
        </p:nvSpPr>
        <p:spPr>
          <a:xfrm>
            <a:off x="548640" y="5303520"/>
            <a:ext cx="7040880" cy="548640"/>
          </a:xfrm>
          <a:prstGeom prst="rect">
            <a:avLst/>
          </a:prstGeom>
          <a:noFill/>
          <a:ln/>
        </p:spPr>
        <p:txBody>
          <a:bodyPr wrap="square" lIns="0" tIns="0" rIns="0" bIns="0" rtlCol="0" anchor="t"/>
          <a:lstStyle/>
          <a:p>
            <a:pPr indent="0" marL="0">
              <a:buNone/>
            </a:pPr>
            <a:r>
              <a:rPr lang="en-US" sz="1400" dirty="0">
                <a:solidFill>
                  <a:schemeClr val="accent6"/>
                </a:solidFill>
              </a:rPr>
              <a:t>The two biggest parts become the “why” on every row, so the PM can see why an item ranks where it does.</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live MVP answers all four questions on one screen</a:t>
            </a:r>
            <a:endParaRPr lang="en-US" sz="3200" dirty="0"/>
          </a:p>
        </p:txBody>
      </p:sp>
      <p:pic>
        <p:nvPicPr>
          <p:cNvPr id="3" name="Image 0" descr="WorkRadar dashboard screenshot">    </p:cNvPr>
          <p:cNvPicPr>
            <a:picLocks noChangeAspect="1"/>
          </p:cNvPicPr>
          <p:nvPr/>
        </p:nvPicPr>
        <p:blipFill>
          <a:blip r:embed="rId1"/>
          <a:stretch>
            <a:fillRect/>
          </a:stretch>
        </p:blipFill>
        <p:spPr>
          <a:xfrm>
            <a:off x="548640" y="1371600"/>
            <a:ext cx="7315200" cy="4572000"/>
          </a:xfrm>
          <a:prstGeom prst="rect">
            <a:avLst/>
          </a:prstGeom>
          <a:effectLst>
            <a:outerShdw sx="100000" sy="100000" kx="0" ky="0" algn="bl" rotWithShape="0" blurRad="101600" dist="25400" dir="5400000">
              <a:srgbClr val="0E2A2F">
                <a:alpha val="12000"/>
              </a:srgbClr>
            </a:outerShdw>
          </a:effectLst>
        </p:spPr>
      </p:pic>
      <p:sp>
        <p:nvSpPr>
          <p:cNvPr id="4" name="callout 1"/>
          <p:cNvSpPr/>
          <p:nvPr/>
        </p:nvSpPr>
        <p:spPr>
          <a:xfrm>
            <a:off x="8183880" y="1463040"/>
            <a:ext cx="384048" cy="384048"/>
          </a:xfrm>
          <a:prstGeom prst="ellipse">
            <a:avLst/>
          </a:prstGeom>
          <a:solidFill>
            <a:schemeClr val="accent2"/>
          </a:solidFill>
          <a:ln/>
        </p:spPr>
      </p:sp>
      <p:sp>
        <p:nvSpPr>
          <p:cNvPr id="5" name="Text 2"/>
          <p:cNvSpPr txBox="1"/>
          <p:nvPr/>
        </p:nvSpPr>
        <p:spPr>
          <a:xfrm>
            <a:off x="8183880" y="14630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6" name="Text 3"/>
          <p:cNvSpPr txBox="1"/>
          <p:nvPr/>
        </p:nvSpPr>
        <p:spPr>
          <a:xfrm>
            <a:off x="8732520" y="1417320"/>
            <a:ext cx="2926080" cy="1005840"/>
          </a:xfrm>
          <a:prstGeom prst="rect">
            <a:avLst/>
          </a:prstGeom>
          <a:noFill/>
          <a:ln/>
        </p:spPr>
        <p:txBody>
          <a:bodyPr wrap="square" lIns="0" tIns="0" rIns="0" bIns="0" rtlCol="0" anchor="t"/>
          <a:lstStyle/>
          <a:p>
            <a:pPr indent="0" marL="0">
              <a:buNone/>
            </a:pPr>
            <a:r>
              <a:rPr lang="en-US" sz="1600" b="1" dirty="0">
                <a:solidFill>
                  <a:schemeClr val="tx2"/>
                </a:solidFill>
              </a:rPr>
              <a:t>AI daily brief</a:t>
            </a:r>
            <a:endParaRPr lang="en-US" sz="1400" dirty="0"/>
          </a:p>
          <a:p>
            <a:pPr indent="0" marL="0">
              <a:buNone/>
            </a:pPr>
            <a:r>
              <a:rPr lang="en-US" sz="1300" dirty="0">
                <a:solidFill>
                  <a:schemeClr val="accent6"/>
                </a:solidFill>
              </a:rPr>
              <a:t>Top work, what happened, needs you, who is blocked. Falls back to rules if AI fails.</a:t>
            </a:r>
            <a:endParaRPr lang="en-US" sz="1400" dirty="0"/>
          </a:p>
        </p:txBody>
      </p:sp>
      <p:sp>
        <p:nvSpPr>
          <p:cNvPr id="7" name="callout 2"/>
          <p:cNvSpPr/>
          <p:nvPr/>
        </p:nvSpPr>
        <p:spPr>
          <a:xfrm>
            <a:off x="8183880" y="2606040"/>
            <a:ext cx="384048" cy="384048"/>
          </a:xfrm>
          <a:prstGeom prst="ellipse">
            <a:avLst/>
          </a:prstGeom>
          <a:solidFill>
            <a:schemeClr val="accent2"/>
          </a:solidFill>
          <a:ln/>
        </p:spPr>
      </p:sp>
      <p:sp>
        <p:nvSpPr>
          <p:cNvPr id="8" name="Text 5"/>
          <p:cNvSpPr txBox="1"/>
          <p:nvPr/>
        </p:nvSpPr>
        <p:spPr>
          <a:xfrm>
            <a:off x="8183880" y="26060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9" name="Text 6"/>
          <p:cNvSpPr txBox="1"/>
          <p:nvPr/>
        </p:nvSpPr>
        <p:spPr>
          <a:xfrm>
            <a:off x="8732520" y="2560320"/>
            <a:ext cx="2926080" cy="1005840"/>
          </a:xfrm>
          <a:prstGeom prst="rect">
            <a:avLst/>
          </a:prstGeom>
          <a:noFill/>
          <a:ln/>
        </p:spPr>
        <p:txBody>
          <a:bodyPr wrap="square" lIns="0" tIns="0" rIns="0" bIns="0" rtlCol="0" anchor="t"/>
          <a:lstStyle/>
          <a:p>
            <a:pPr indent="0" marL="0">
              <a:buNone/>
            </a:pPr>
            <a:r>
              <a:rPr lang="en-US" sz="1600" b="1" dirty="0">
                <a:solidFill>
                  <a:schemeClr val="tx2"/>
                </a:solidFill>
              </a:rPr>
              <a:t>Done for the day</a:t>
            </a:r>
            <a:endParaRPr lang="en-US" sz="1400" dirty="0"/>
          </a:p>
          <a:p>
            <a:pPr indent="0" marL="0">
              <a:buNone/>
            </a:pPr>
            <a:r>
              <a:rPr lang="en-US" sz="1300" dirty="0">
                <a:solidFill>
                  <a:schemeClr val="accent6"/>
                </a:solidFill>
              </a:rPr>
              <a:t>Priority items closed vs due: green at 80% or more.</a:t>
            </a:r>
            <a:endParaRPr lang="en-US" sz="1400" dirty="0"/>
          </a:p>
        </p:txBody>
      </p:sp>
      <p:sp>
        <p:nvSpPr>
          <p:cNvPr id="10" name="callout 3"/>
          <p:cNvSpPr/>
          <p:nvPr/>
        </p:nvSpPr>
        <p:spPr>
          <a:xfrm>
            <a:off x="8183880" y="3749040"/>
            <a:ext cx="384048" cy="384048"/>
          </a:xfrm>
          <a:prstGeom prst="ellipse">
            <a:avLst/>
          </a:prstGeom>
          <a:solidFill>
            <a:schemeClr val="accent2"/>
          </a:solidFill>
          <a:ln/>
        </p:spPr>
      </p:sp>
      <p:sp>
        <p:nvSpPr>
          <p:cNvPr id="11" name="Text 8"/>
          <p:cNvSpPr txBox="1"/>
          <p:nvPr/>
        </p:nvSpPr>
        <p:spPr>
          <a:xfrm>
            <a:off x="8183880" y="37490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Text 9"/>
          <p:cNvSpPr txBox="1"/>
          <p:nvPr/>
        </p:nvSpPr>
        <p:spPr>
          <a:xfrm>
            <a:off x="8732520" y="3703320"/>
            <a:ext cx="2926080" cy="1005840"/>
          </a:xfrm>
          <a:prstGeom prst="rect">
            <a:avLst/>
          </a:prstGeom>
          <a:noFill/>
          <a:ln/>
        </p:spPr>
        <p:txBody>
          <a:bodyPr wrap="square" lIns="0" tIns="0" rIns="0" bIns="0" rtlCol="0" anchor="t"/>
          <a:lstStyle/>
          <a:p>
            <a:pPr indent="0" marL="0">
              <a:buNone/>
            </a:pPr>
            <a:r>
              <a:rPr lang="en-US" sz="1600" b="1" dirty="0">
                <a:solidFill>
                  <a:schemeClr val="tx2"/>
                </a:solidFill>
              </a:rPr>
              <a:t>Ranked priorities</a:t>
            </a:r>
            <a:endParaRPr lang="en-US" sz="1400" dirty="0"/>
          </a:p>
          <a:p>
            <a:pPr indent="0" marL="0">
              <a:buNone/>
            </a:pPr>
            <a:r>
              <a:rPr lang="en-US" sz="1300" dirty="0">
                <a:solidFill>
                  <a:schemeClr val="accent6"/>
                </a:solidFill>
              </a:rPr>
              <a:t>P1 to P3 with a reason and source link on every row.</a:t>
            </a:r>
            <a:endParaRPr lang="en-US" sz="1400" dirty="0"/>
          </a:p>
        </p:txBody>
      </p:sp>
      <p:sp>
        <p:nvSpPr>
          <p:cNvPr id="13" name="callout 4"/>
          <p:cNvSpPr/>
          <p:nvPr/>
        </p:nvSpPr>
        <p:spPr>
          <a:xfrm>
            <a:off x="8183880" y="4892040"/>
            <a:ext cx="384048" cy="384048"/>
          </a:xfrm>
          <a:prstGeom prst="ellipse">
            <a:avLst/>
          </a:prstGeom>
          <a:solidFill>
            <a:schemeClr val="accent2"/>
          </a:solidFill>
          <a:ln/>
        </p:spPr>
      </p:sp>
      <p:sp>
        <p:nvSpPr>
          <p:cNvPr id="14" name="Text 11"/>
          <p:cNvSpPr txBox="1"/>
          <p:nvPr/>
        </p:nvSpPr>
        <p:spPr>
          <a:xfrm>
            <a:off x="8183880" y="48920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5" name="Text 12"/>
          <p:cNvSpPr txBox="1"/>
          <p:nvPr/>
        </p:nvSpPr>
        <p:spPr>
          <a:xfrm>
            <a:off x="8732520" y="4846320"/>
            <a:ext cx="2926080" cy="1005840"/>
          </a:xfrm>
          <a:prstGeom prst="rect">
            <a:avLst/>
          </a:prstGeom>
          <a:noFill/>
          <a:ln/>
        </p:spPr>
        <p:txBody>
          <a:bodyPr wrap="square" lIns="0" tIns="0" rIns="0" bIns="0" rtlCol="0" anchor="t"/>
          <a:lstStyle/>
          <a:p>
            <a:pPr indent="0" marL="0">
              <a:buNone/>
            </a:pPr>
            <a:r>
              <a:rPr lang="en-US" sz="1600" b="1" dirty="0">
                <a:solidFill>
                  <a:schemeClr val="tx2"/>
                </a:solidFill>
              </a:rPr>
              <a:t>Calendar and blockers</a:t>
            </a:r>
            <a:endParaRPr lang="en-US" sz="1400" dirty="0"/>
          </a:p>
          <a:p>
            <a:pPr indent="0" marL="0">
              <a:buNone/>
            </a:pPr>
            <a:r>
              <a:rPr lang="en-US" sz="1300" dirty="0">
                <a:solidFill>
                  <a:schemeClr val="accent6"/>
                </a:solidFill>
              </a:rPr>
              <a:t>Meeting dots with hover details; who is stuck and for how long.</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Every required screen works, with mock data for 50 people</a:t>
            </a:r>
            <a:endParaRPr lang="en-US" sz="3200" dirty="0"/>
          </a:p>
        </p:txBody>
      </p:sp>
      <p:pic>
        <p:nvPicPr>
          <p:cNvPr id="3" name="Image 0" descr="Radar · ranked feed with filters screenshot">    </p:cNvPr>
          <p:cNvPicPr>
            <a:picLocks noChangeAspect="1"/>
          </p:cNvPicPr>
          <p:nvPr/>
        </p:nvPicPr>
        <p:blipFill>
          <a:blip r:embed="rId1"/>
          <a:srcRect l="0" r="0" t="0" b="0"/>
          <a:stretch/>
        </p:blipFill>
        <p:spPr>
          <a:xfrm>
            <a:off x="548640" y="1371600"/>
            <a:ext cx="3566160" cy="2057400"/>
          </a:xfrm>
          <a:prstGeom prst="rect">
            <a:avLst/>
          </a:prstGeom>
        </p:spPr>
      </p:pic>
      <p:sp>
        <p:nvSpPr>
          <p:cNvPr id="4" name="frame radar"/>
          <p:cNvSpPr/>
          <p:nvPr/>
        </p:nvSpPr>
        <p:spPr>
          <a:xfrm>
            <a:off x="548640" y="1371600"/>
            <a:ext cx="3566160" cy="2057400"/>
          </a:xfrm>
          <a:prstGeom prst="rect">
            <a:avLst/>
          </a:prstGeom>
          <a:ln w="9525">
            <a:solidFill>
              <a:srgbClr val="D7E5E2"/>
            </a:solidFill>
            <a:prstDash val="solid"/>
          </a:ln>
        </p:spPr>
      </p:sp>
      <p:sp>
        <p:nvSpPr>
          <p:cNvPr id="5" name="Text 2"/>
          <p:cNvSpPr txBox="1"/>
          <p:nvPr/>
        </p:nvSpPr>
        <p:spPr>
          <a:xfrm>
            <a:off x="548640" y="3474720"/>
            <a:ext cx="3566160" cy="292608"/>
          </a:xfrm>
          <a:prstGeom prst="rect">
            <a:avLst/>
          </a:prstGeom>
          <a:noFill/>
          <a:ln/>
        </p:spPr>
        <p:txBody>
          <a:bodyPr wrap="square" lIns="0" tIns="0" rIns="0" bIns="0" rtlCol="0" anchor="t"/>
          <a:lstStyle/>
          <a:p>
            <a:pPr indent="0" marL="0">
              <a:buNone/>
            </a:pPr>
            <a:r>
              <a:rPr lang="en-US" sz="1300" b="1" dirty="0">
                <a:solidFill>
                  <a:schemeClr val="tx2"/>
                </a:solidFill>
              </a:rPr>
              <a:t>Radar · ranked feed with filters</a:t>
            </a:r>
            <a:endParaRPr lang="en-US" sz="1300" dirty="0"/>
          </a:p>
        </p:txBody>
      </p:sp>
      <p:pic>
        <p:nvPicPr>
          <p:cNvPr id="6" name="Image 1" descr="Item detail · score and AI notes screenshot">    </p:cNvPr>
          <p:cNvPicPr>
            <a:picLocks noChangeAspect="1"/>
          </p:cNvPicPr>
          <p:nvPr/>
        </p:nvPicPr>
        <p:blipFill>
          <a:blip r:embed="rId2"/>
          <a:srcRect l="0" r="0" t="0" b="0"/>
          <a:stretch/>
        </p:blipFill>
        <p:spPr>
          <a:xfrm>
            <a:off x="4297680" y="1371600"/>
            <a:ext cx="3566160" cy="2057400"/>
          </a:xfrm>
          <a:prstGeom prst="rect">
            <a:avLst/>
          </a:prstGeom>
        </p:spPr>
      </p:pic>
      <p:sp>
        <p:nvSpPr>
          <p:cNvPr id="7" name="frame drawer"/>
          <p:cNvSpPr/>
          <p:nvPr/>
        </p:nvSpPr>
        <p:spPr>
          <a:xfrm>
            <a:off x="4297680" y="1371600"/>
            <a:ext cx="3566160" cy="2057400"/>
          </a:xfrm>
          <a:prstGeom prst="rect">
            <a:avLst/>
          </a:prstGeom>
          <a:ln w="9525">
            <a:solidFill>
              <a:srgbClr val="D7E5E2"/>
            </a:solidFill>
            <a:prstDash val="solid"/>
          </a:ln>
        </p:spPr>
      </p:sp>
      <p:sp>
        <p:nvSpPr>
          <p:cNvPr id="8" name="Text 4"/>
          <p:cNvSpPr txBox="1"/>
          <p:nvPr/>
        </p:nvSpPr>
        <p:spPr>
          <a:xfrm>
            <a:off x="4297680" y="3474720"/>
            <a:ext cx="3566160" cy="292608"/>
          </a:xfrm>
          <a:prstGeom prst="rect">
            <a:avLst/>
          </a:prstGeom>
          <a:noFill/>
          <a:ln/>
        </p:spPr>
        <p:txBody>
          <a:bodyPr wrap="square" lIns="0" tIns="0" rIns="0" bIns="0" rtlCol="0" anchor="t"/>
          <a:lstStyle/>
          <a:p>
            <a:pPr indent="0" marL="0">
              <a:buNone/>
            </a:pPr>
            <a:r>
              <a:rPr lang="en-US" sz="1300" b="1" dirty="0">
                <a:solidFill>
                  <a:schemeClr val="tx2"/>
                </a:solidFill>
              </a:rPr>
              <a:t>Item detail · score and AI notes</a:t>
            </a:r>
            <a:endParaRPr lang="en-US" sz="1300" dirty="0"/>
          </a:p>
        </p:txBody>
      </p:sp>
      <p:pic>
        <p:nvPicPr>
          <p:cNvPr id="9" name="Image 2" descr="Calendar · dots, hover, free slots screenshot">    </p:cNvPr>
          <p:cNvPicPr>
            <a:picLocks noChangeAspect="1"/>
          </p:cNvPicPr>
          <p:nvPr/>
        </p:nvPicPr>
        <p:blipFill>
          <a:blip r:embed="rId3"/>
          <a:srcRect l="0" r="0" t="0" b="0"/>
          <a:stretch/>
        </p:blipFill>
        <p:spPr>
          <a:xfrm>
            <a:off x="8046720" y="1371600"/>
            <a:ext cx="3566160" cy="2057400"/>
          </a:xfrm>
          <a:prstGeom prst="rect">
            <a:avLst/>
          </a:prstGeom>
        </p:spPr>
      </p:pic>
      <p:sp>
        <p:nvSpPr>
          <p:cNvPr id="10" name="frame calendar"/>
          <p:cNvSpPr/>
          <p:nvPr/>
        </p:nvSpPr>
        <p:spPr>
          <a:xfrm>
            <a:off x="8046720" y="1371600"/>
            <a:ext cx="3566160" cy="2057400"/>
          </a:xfrm>
          <a:prstGeom prst="rect">
            <a:avLst/>
          </a:prstGeom>
          <a:ln w="9525">
            <a:solidFill>
              <a:srgbClr val="D7E5E2"/>
            </a:solidFill>
            <a:prstDash val="solid"/>
          </a:ln>
        </p:spPr>
      </p:sp>
      <p:sp>
        <p:nvSpPr>
          <p:cNvPr id="11" name="Text 6"/>
          <p:cNvSpPr txBox="1"/>
          <p:nvPr/>
        </p:nvSpPr>
        <p:spPr>
          <a:xfrm>
            <a:off x="8046720" y="3474720"/>
            <a:ext cx="3566160" cy="292608"/>
          </a:xfrm>
          <a:prstGeom prst="rect">
            <a:avLst/>
          </a:prstGeom>
          <a:noFill/>
          <a:ln/>
        </p:spPr>
        <p:txBody>
          <a:bodyPr wrap="square" lIns="0" tIns="0" rIns="0" bIns="0" rtlCol="0" anchor="t"/>
          <a:lstStyle/>
          <a:p>
            <a:pPr indent="0" marL="0">
              <a:buNone/>
            </a:pPr>
            <a:r>
              <a:rPr lang="en-US" sz="1300" b="1" dirty="0">
                <a:solidFill>
                  <a:schemeClr val="tx2"/>
                </a:solidFill>
              </a:rPr>
              <a:t>Calendar · dots, hover, free slots</a:t>
            </a:r>
            <a:endParaRPr lang="en-US" sz="1300" dirty="0"/>
          </a:p>
        </p:txBody>
      </p:sp>
      <p:pic>
        <p:nvPicPr>
          <p:cNvPr id="12" name="Image 3" descr="Team · health at a glance screenshot">    </p:cNvPr>
          <p:cNvPicPr>
            <a:picLocks noChangeAspect="1"/>
          </p:cNvPicPr>
          <p:nvPr/>
        </p:nvPicPr>
        <p:blipFill>
          <a:blip r:embed="rId4"/>
          <a:srcRect l="0" r="0" t="0" b="0"/>
          <a:stretch/>
        </p:blipFill>
        <p:spPr>
          <a:xfrm>
            <a:off x="548640" y="3858768"/>
            <a:ext cx="3566160" cy="2057400"/>
          </a:xfrm>
          <a:prstGeom prst="rect">
            <a:avLst/>
          </a:prstGeom>
        </p:spPr>
      </p:pic>
      <p:sp>
        <p:nvSpPr>
          <p:cNvPr id="13" name="frame team"/>
          <p:cNvSpPr/>
          <p:nvPr/>
        </p:nvSpPr>
        <p:spPr>
          <a:xfrm>
            <a:off x="548640" y="3858768"/>
            <a:ext cx="3566160" cy="2057400"/>
          </a:xfrm>
          <a:prstGeom prst="rect">
            <a:avLst/>
          </a:prstGeom>
          <a:ln w="9525">
            <a:solidFill>
              <a:srgbClr val="D7E5E2"/>
            </a:solidFill>
            <a:prstDash val="solid"/>
          </a:ln>
        </p:spPr>
      </p:sp>
      <p:sp>
        <p:nvSpPr>
          <p:cNvPr id="14" name="Text 8"/>
          <p:cNvSpPr txBox="1"/>
          <p:nvPr/>
        </p:nvSpPr>
        <p:spPr>
          <a:xfrm>
            <a:off x="548640" y="5961888"/>
            <a:ext cx="3566160" cy="292608"/>
          </a:xfrm>
          <a:prstGeom prst="rect">
            <a:avLst/>
          </a:prstGeom>
          <a:noFill/>
          <a:ln/>
        </p:spPr>
        <p:txBody>
          <a:bodyPr wrap="square" lIns="0" tIns="0" rIns="0" bIns="0" rtlCol="0" anchor="t"/>
          <a:lstStyle/>
          <a:p>
            <a:pPr indent="0" marL="0">
              <a:buNone/>
            </a:pPr>
            <a:r>
              <a:rPr lang="en-US" sz="1300" b="1" dirty="0">
                <a:solidFill>
                  <a:schemeClr val="tx2"/>
                </a:solidFill>
              </a:rPr>
              <a:t>Team · health at a glance</a:t>
            </a:r>
            <a:endParaRPr lang="en-US" sz="1300" dirty="0"/>
          </a:p>
        </p:txBody>
      </p:sp>
      <p:pic>
        <p:nvPicPr>
          <p:cNvPr id="15" name="Image 4" descr="Activity Log · undo and restore screenshot">    </p:cNvPr>
          <p:cNvPicPr>
            <a:picLocks noChangeAspect="1"/>
          </p:cNvPicPr>
          <p:nvPr/>
        </p:nvPicPr>
        <p:blipFill>
          <a:blip r:embed="rId5"/>
          <a:srcRect l="0" r="0" t="0" b="0"/>
          <a:stretch/>
        </p:blipFill>
        <p:spPr>
          <a:xfrm>
            <a:off x="4297680" y="3858768"/>
            <a:ext cx="3566160" cy="2057400"/>
          </a:xfrm>
          <a:prstGeom prst="rect">
            <a:avLst/>
          </a:prstGeom>
        </p:spPr>
      </p:pic>
      <p:sp>
        <p:nvSpPr>
          <p:cNvPr id="16" name="frame activity"/>
          <p:cNvSpPr/>
          <p:nvPr/>
        </p:nvSpPr>
        <p:spPr>
          <a:xfrm>
            <a:off x="4297680" y="3858768"/>
            <a:ext cx="3566160" cy="2057400"/>
          </a:xfrm>
          <a:prstGeom prst="rect">
            <a:avLst/>
          </a:prstGeom>
          <a:ln w="9525">
            <a:solidFill>
              <a:srgbClr val="D7E5E2"/>
            </a:solidFill>
            <a:prstDash val="solid"/>
          </a:ln>
        </p:spPr>
      </p:sp>
      <p:sp>
        <p:nvSpPr>
          <p:cNvPr id="17" name="Text 10"/>
          <p:cNvSpPr txBox="1"/>
          <p:nvPr/>
        </p:nvSpPr>
        <p:spPr>
          <a:xfrm>
            <a:off x="4297680" y="5961888"/>
            <a:ext cx="3566160" cy="292608"/>
          </a:xfrm>
          <a:prstGeom prst="rect">
            <a:avLst/>
          </a:prstGeom>
          <a:noFill/>
          <a:ln/>
        </p:spPr>
        <p:txBody>
          <a:bodyPr wrap="square" lIns="0" tIns="0" rIns="0" bIns="0" rtlCol="0" anchor="t"/>
          <a:lstStyle/>
          <a:p>
            <a:pPr indent="0" marL="0">
              <a:buNone/>
            </a:pPr>
            <a:r>
              <a:rPr lang="en-US" sz="1300" b="1" dirty="0">
                <a:solidFill>
                  <a:schemeClr val="tx2"/>
                </a:solidFill>
              </a:rPr>
              <a:t>Activity Log · undo and restore</a:t>
            </a:r>
            <a:endParaRPr lang="en-US" sz="1300" dirty="0"/>
          </a:p>
        </p:txBody>
      </p:sp>
      <p:pic>
        <p:nvPicPr>
          <p:cNvPr id="18" name="Image 5" descr="Integrations · status and demo controls screenshot">    </p:cNvPr>
          <p:cNvPicPr>
            <a:picLocks noChangeAspect="1"/>
          </p:cNvPicPr>
          <p:nvPr/>
        </p:nvPicPr>
        <p:blipFill>
          <a:blip r:embed="rId6"/>
          <a:srcRect l="0" r="0" t="0" b="0"/>
          <a:stretch/>
        </p:blipFill>
        <p:spPr>
          <a:xfrm>
            <a:off x="8046720" y="3858768"/>
            <a:ext cx="3566160" cy="2057400"/>
          </a:xfrm>
          <a:prstGeom prst="rect">
            <a:avLst/>
          </a:prstGeom>
        </p:spPr>
      </p:pic>
      <p:sp>
        <p:nvSpPr>
          <p:cNvPr id="19" name="frame integrations"/>
          <p:cNvSpPr/>
          <p:nvPr/>
        </p:nvSpPr>
        <p:spPr>
          <a:xfrm>
            <a:off x="8046720" y="3858768"/>
            <a:ext cx="3566160" cy="2057400"/>
          </a:xfrm>
          <a:prstGeom prst="rect">
            <a:avLst/>
          </a:prstGeom>
          <a:ln w="9525">
            <a:solidFill>
              <a:srgbClr val="D7E5E2"/>
            </a:solidFill>
            <a:prstDash val="solid"/>
          </a:ln>
        </p:spPr>
      </p:sp>
      <p:sp>
        <p:nvSpPr>
          <p:cNvPr id="20" name="Text 12"/>
          <p:cNvSpPr txBox="1"/>
          <p:nvPr/>
        </p:nvSpPr>
        <p:spPr>
          <a:xfrm>
            <a:off x="8046720" y="5961888"/>
            <a:ext cx="3566160" cy="292608"/>
          </a:xfrm>
          <a:prstGeom prst="rect">
            <a:avLst/>
          </a:prstGeom>
          <a:noFill/>
          <a:ln/>
        </p:spPr>
        <p:txBody>
          <a:bodyPr wrap="square" lIns="0" tIns="0" rIns="0" bIns="0" rtlCol="0" anchor="t"/>
          <a:lstStyle/>
          <a:p>
            <a:pPr indent="0" marL="0">
              <a:buNone/>
            </a:pPr>
            <a:r>
              <a:rPr lang="en-US" sz="1300" b="1" dirty="0">
                <a:solidFill>
                  <a:schemeClr val="tx2"/>
                </a:solidFill>
              </a:rPr>
              <a:t>Integrations · status and demo controls</a:t>
            </a:r>
            <a:endParaRPr lang="en-US" sz="13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Success means clarity in minutes and nothing missed</a:t>
            </a:r>
            <a:endParaRPr lang="en-US" sz="3200" dirty="0"/>
          </a:p>
        </p:txBody>
      </p:sp>
      <p:sp>
        <p:nvSpPr>
          <p:cNvPr id="3" name="north star card"/>
          <p:cNvSpPr/>
          <p:nvPr/>
        </p:nvSpPr>
        <p:spPr>
          <a:xfrm>
            <a:off x="548640" y="1417320"/>
            <a:ext cx="3566160" cy="4343400"/>
          </a:xfrm>
          <a:prstGeom prst="roundRect">
            <a:avLst>
              <a:gd name="adj" fmla="val 3077"/>
            </a:avLst>
          </a:prstGeom>
          <a:solidFill>
            <a:schemeClr val="tx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4" name="Text 2"/>
          <p:cNvSpPr txBox="1"/>
          <p:nvPr/>
        </p:nvSpPr>
        <p:spPr>
          <a:xfrm>
            <a:off x="822960" y="1691640"/>
            <a:ext cx="3017520" cy="320040"/>
          </a:xfrm>
          <a:prstGeom prst="rect">
            <a:avLst/>
          </a:prstGeom>
          <a:noFill/>
          <a:ln/>
        </p:spPr>
        <p:txBody>
          <a:bodyPr wrap="square" lIns="0" tIns="0" rIns="0" bIns="0" rtlCol="0" anchor="t"/>
          <a:lstStyle/>
          <a:p>
            <a:pPr indent="0" marL="0">
              <a:buNone/>
            </a:pPr>
            <a:r>
              <a:rPr lang="en-US" sz="1200" b="1" spc="200" kern="0" dirty="0">
                <a:solidFill>
                  <a:schemeClr val="accent2"/>
                </a:solidFill>
              </a:rPr>
              <a:t>NORTH STAR</a:t>
            </a:r>
            <a:endParaRPr lang="en-US" sz="1200" dirty="0"/>
          </a:p>
        </p:txBody>
      </p:sp>
      <p:sp>
        <p:nvSpPr>
          <p:cNvPr id="5" name="Text 3"/>
          <p:cNvSpPr txBox="1"/>
          <p:nvPr/>
        </p:nvSpPr>
        <p:spPr>
          <a:xfrm>
            <a:off x="822960" y="2148840"/>
            <a:ext cx="3017520" cy="109728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&lt; 5 min</a:t>
            </a:r>
            <a:endParaRPr lang="en-US" sz="6000" dirty="0"/>
          </a:p>
        </p:txBody>
      </p:sp>
      <p:sp>
        <p:nvSpPr>
          <p:cNvPr id="6" name="Text 4"/>
          <p:cNvSpPr txBox="1"/>
          <p:nvPr/>
        </p:nvSpPr>
        <p:spPr>
          <a:xfrm>
            <a:off x="822960" y="3383280"/>
            <a:ext cx="3017520" cy="1280160"/>
          </a:xfrm>
          <a:prstGeom prst="rect">
            <a:avLst/>
          </a:prstGeom>
          <a:noFill/>
          <a:ln/>
        </p:spPr>
        <p:txBody>
          <a:bodyPr wrap="square" lIns="0" tIns="0" rIns="0" bIns="0" rtlCol="0" anchor="t"/>
          <a:lstStyle/>
          <a:p>
            <a:pPr indent="0" marL="0">
              <a:buNone/>
            </a:pPr>
            <a:r>
              <a:rPr lang="en-US" sz="1500" dirty="0">
                <a:solidFill>
                  <a:srgbClr val="C7DDD9"/>
                </a:solidFill>
              </a:rPr>
              <a:t>Time to daily clarity: from opening WorkRadar to naming the top three. Baseline is 60+ minutes.</a:t>
            </a:r>
            <a:endParaRPr lang="en-US" sz="1500" dirty="0"/>
          </a:p>
        </p:txBody>
      </p:sp>
      <p:sp>
        <p:nvSpPr>
          <p:cNvPr id="7" name="done for the day card"/>
          <p:cNvSpPr/>
          <p:nvPr/>
        </p:nvSpPr>
        <p:spPr>
          <a:xfrm>
            <a:off x="4389120" y="1417320"/>
            <a:ext cx="3566160" cy="4343400"/>
          </a:xfrm>
          <a:prstGeom prst="roundRect">
            <a:avLst>
              <a:gd name="adj" fmla="val 3077"/>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8" name="Text 6"/>
          <p:cNvSpPr txBox="1"/>
          <p:nvPr/>
        </p:nvSpPr>
        <p:spPr>
          <a:xfrm>
            <a:off x="4663440" y="1691640"/>
            <a:ext cx="301752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DONE FOR THE DAY</a:t>
            </a:r>
            <a:endParaRPr lang="en-US" sz="1200" dirty="0"/>
          </a:p>
        </p:txBody>
      </p:sp>
      <p:graphicFrame>
        <p:nvGraphicFramePr>
          <p:cNvPr id="9" name="Chart 0" descr=""/>
          <p:cNvGraphicFramePr/>
          <p:nvPr/>
        </p:nvGraphicFramePr>
        <p:xfrm>
          <a:off x="4983480" y="2057400"/>
          <a:ext cx="2377440" cy="2103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983480" y="2788920"/>
            <a:ext cx="2377440" cy="64008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82%</a:t>
            </a:r>
            <a:endParaRPr lang="en-US" sz="3000" dirty="0"/>
          </a:p>
        </p:txBody>
      </p:sp>
      <p:sp>
        <p:nvSpPr>
          <p:cNvPr id="11" name="Text 8"/>
          <p:cNvSpPr txBox="1"/>
          <p:nvPr/>
        </p:nvSpPr>
        <p:spPr>
          <a:xfrm>
            <a:off x="4663440" y="4343400"/>
            <a:ext cx="3017520" cy="914400"/>
          </a:xfrm>
          <a:prstGeom prst="rect">
            <a:avLst/>
          </a:prstGeom>
          <a:noFill/>
          <a:ln/>
        </p:spPr>
        <p:txBody>
          <a:bodyPr wrap="square" lIns="0" tIns="0" rIns="0" bIns="0" rtlCol="0" anchor="t"/>
          <a:lstStyle/>
          <a:p>
            <a:pPr indent="0" marL="0">
              <a:buNone/>
            </a:pPr>
            <a:r>
              <a:rPr lang="en-US" sz="1400" dirty="0">
                <a:solidFill>
                  <a:schemeClr val="tx1"/>
                </a:solidFill>
              </a:rPr>
              <a:t>Priority items closed ÷ due today. Green ≥ 80% · amber 50–79% · red &lt; 50%</a:t>
            </a:r>
            <a:endParaRPr lang="en-US" sz="1400" dirty="0"/>
          </a:p>
        </p:txBody>
      </p:sp>
      <p:sp>
        <p:nvSpPr>
          <p:cNvPr id="12" name="Leading card"/>
          <p:cNvSpPr/>
          <p:nvPr/>
        </p:nvSpPr>
        <p:spPr>
          <a:xfrm>
            <a:off x="8229600" y="1417320"/>
            <a:ext cx="3383280" cy="1325880"/>
          </a:xfrm>
          <a:prstGeom prst="roundRect">
            <a:avLst>
              <a:gd name="adj" fmla="val 8276"/>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pic>
        <p:nvPicPr>
          <p:cNvPr id="13" name="Image 0" descr="Leading">    </p:cNvPr>
          <p:cNvPicPr>
            <a:picLocks noChangeAspect="1"/>
          </p:cNvPicPr>
          <p:nvPr/>
        </p:nvPicPr>
        <p:blipFill>
          <a:blip r:embed="rId2"/>
          <a:stretch>
            <a:fillRect/>
          </a:stretch>
        </p:blipFill>
        <p:spPr>
          <a:xfrm>
            <a:off x="8458200" y="1645920"/>
            <a:ext cx="365760" cy="365760"/>
          </a:xfrm>
          <a:prstGeom prst="rect">
            <a:avLst/>
          </a:prstGeom>
        </p:spPr>
      </p:pic>
      <p:sp>
        <p:nvSpPr>
          <p:cNvPr id="14" name="Text 10"/>
          <p:cNvSpPr txBox="1"/>
          <p:nvPr/>
        </p:nvSpPr>
        <p:spPr>
          <a:xfrm>
            <a:off x="8961120" y="1581912"/>
            <a:ext cx="2514600" cy="1051560"/>
          </a:xfrm>
          <a:prstGeom prst="rect">
            <a:avLst/>
          </a:prstGeom>
          <a:noFill/>
          <a:ln/>
        </p:spPr>
        <p:txBody>
          <a:bodyPr wrap="square" lIns="0" tIns="0" rIns="0" bIns="0" rtlCol="0" anchor="t"/>
          <a:lstStyle/>
          <a:p>
            <a:pPr indent="0" marL="0">
              <a:buNone/>
            </a:pPr>
            <a:r>
              <a:rPr lang="en-US" sz="1600" b="1" dirty="0">
                <a:solidFill>
                  <a:schemeClr val="tx2"/>
                </a:solidFill>
              </a:rPr>
              <a:t>Leading</a:t>
            </a:r>
            <a:endParaRPr lang="en-US" sz="1400" dirty="0"/>
          </a:p>
          <a:p>
            <a:pPr indent="0" marL="0">
              <a:buNone/>
            </a:pPr>
            <a:r>
              <a:rPr lang="en-US" sz="1300" dirty="0">
                <a:solidFill>
                  <a:schemeClr val="accent6"/>
                </a:solidFill>
              </a:rPr>
              <a:t>P1 opened in source within 2 h &gt; 70% · @pm tag use &gt; 40%</a:t>
            </a:r>
            <a:endParaRPr lang="en-US" sz="1400" dirty="0"/>
          </a:p>
        </p:txBody>
      </p:sp>
      <p:sp>
        <p:nvSpPr>
          <p:cNvPr id="15" name="Lagging card"/>
          <p:cNvSpPr/>
          <p:nvPr/>
        </p:nvSpPr>
        <p:spPr>
          <a:xfrm>
            <a:off x="8229600" y="2898648"/>
            <a:ext cx="3383280" cy="1325880"/>
          </a:xfrm>
          <a:prstGeom prst="roundRect">
            <a:avLst>
              <a:gd name="adj" fmla="val 8276"/>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pic>
        <p:nvPicPr>
          <p:cNvPr id="16" name="Image 1" descr="Lagging">    </p:cNvPr>
          <p:cNvPicPr>
            <a:picLocks noChangeAspect="1"/>
          </p:cNvPicPr>
          <p:nvPr/>
        </p:nvPicPr>
        <p:blipFill>
          <a:blip r:embed="rId3"/>
          <a:stretch>
            <a:fillRect/>
          </a:stretch>
        </p:blipFill>
        <p:spPr>
          <a:xfrm>
            <a:off x="8458200" y="3127248"/>
            <a:ext cx="365760" cy="365760"/>
          </a:xfrm>
          <a:prstGeom prst="rect">
            <a:avLst/>
          </a:prstGeom>
        </p:spPr>
      </p:pic>
      <p:sp>
        <p:nvSpPr>
          <p:cNvPr id="17" name="Text 12"/>
          <p:cNvSpPr txBox="1"/>
          <p:nvPr/>
        </p:nvSpPr>
        <p:spPr>
          <a:xfrm>
            <a:off x="8961120" y="3063240"/>
            <a:ext cx="2514600" cy="1051560"/>
          </a:xfrm>
          <a:prstGeom prst="rect">
            <a:avLst/>
          </a:prstGeom>
          <a:noFill/>
          <a:ln/>
        </p:spPr>
        <p:txBody>
          <a:bodyPr wrap="square" lIns="0" tIns="0" rIns="0" bIns="0" rtlCol="0" anchor="t"/>
          <a:lstStyle/>
          <a:p>
            <a:pPr indent="0" marL="0">
              <a:buNone/>
            </a:pPr>
            <a:r>
              <a:rPr lang="en-US" sz="1600" b="1" dirty="0">
                <a:solidFill>
                  <a:schemeClr val="tx2"/>
                </a:solidFill>
              </a:rPr>
              <a:t>Lagging</a:t>
            </a:r>
            <a:endParaRPr lang="en-US" sz="1400" dirty="0"/>
          </a:p>
          <a:p>
            <a:pPr indent="0" marL="0">
              <a:buNone/>
            </a:pPr>
            <a:r>
              <a:rPr lang="en-US" sz="1300" dirty="0">
                <a:solidFill>
                  <a:schemeClr val="accent6"/>
                </a:solidFill>
              </a:rPr>
              <a:t>Triage time and blocker wait time down 50%</a:t>
            </a:r>
            <a:endParaRPr lang="en-US" sz="1400" dirty="0"/>
          </a:p>
        </p:txBody>
      </p:sp>
      <p:sp>
        <p:nvSpPr>
          <p:cNvPr id="18" name="Guardrails card"/>
          <p:cNvSpPr/>
          <p:nvPr/>
        </p:nvSpPr>
        <p:spPr>
          <a:xfrm>
            <a:off x="8229600" y="4379976"/>
            <a:ext cx="3383280" cy="1325880"/>
          </a:xfrm>
          <a:prstGeom prst="roundRect">
            <a:avLst>
              <a:gd name="adj" fmla="val 8276"/>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pic>
        <p:nvPicPr>
          <p:cNvPr id="19" name="Image 2" descr="Guardrails">    </p:cNvPr>
          <p:cNvPicPr>
            <a:picLocks noChangeAspect="1"/>
          </p:cNvPicPr>
          <p:nvPr/>
        </p:nvPicPr>
        <p:blipFill>
          <a:blip r:embed="rId4"/>
          <a:stretch>
            <a:fillRect/>
          </a:stretch>
        </p:blipFill>
        <p:spPr>
          <a:xfrm>
            <a:off x="8458200" y="4608576"/>
            <a:ext cx="365760" cy="365760"/>
          </a:xfrm>
          <a:prstGeom prst="rect">
            <a:avLst/>
          </a:prstGeom>
        </p:spPr>
      </p:pic>
      <p:sp>
        <p:nvSpPr>
          <p:cNvPr id="20" name="Text 14"/>
          <p:cNvSpPr txBox="1"/>
          <p:nvPr/>
        </p:nvSpPr>
        <p:spPr>
          <a:xfrm>
            <a:off x="8961120" y="4544568"/>
            <a:ext cx="2514600" cy="1051560"/>
          </a:xfrm>
          <a:prstGeom prst="rect">
            <a:avLst/>
          </a:prstGeom>
          <a:noFill/>
          <a:ln/>
        </p:spPr>
        <p:txBody>
          <a:bodyPr wrap="square" lIns="0" tIns="0" rIns="0" bIns="0" rtlCol="0" anchor="t"/>
          <a:lstStyle/>
          <a:p>
            <a:pPr indent="0" marL="0">
              <a:buNone/>
            </a:pPr>
            <a:r>
              <a:rPr lang="en-US" sz="1600" b="1" dirty="0">
                <a:solidFill>
                  <a:schemeClr val="tx2"/>
                </a:solidFill>
              </a:rPr>
              <a:t>Guardrails</a:t>
            </a:r>
            <a:endParaRPr lang="en-US" sz="1400" dirty="0"/>
          </a:p>
          <a:p>
            <a:pPr indent="0" marL="0">
              <a:buNone/>
            </a:pPr>
            <a:r>
              <a:rPr lang="en-US" sz="1300" dirty="0">
                <a:solidFill>
                  <a:schemeClr val="accent6"/>
                </a:solidFill>
              </a:rPr>
              <a:t>Missed P1 &lt; 5% · ≤ 20 min a day in app · zero privacy complaints</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Ship the core now, live integrations next</a:t>
            </a:r>
            <a:endParaRPr lang="en-US" sz="3200" dirty="0"/>
          </a:p>
        </p:txBody>
      </p:sp>
      <p:sp>
        <p:nvSpPr>
          <p:cNvPr id="3" name="MVP must column"/>
          <p:cNvSpPr/>
          <p:nvPr/>
        </p:nvSpPr>
        <p:spPr>
          <a:xfrm>
            <a:off x="548640" y="1417320"/>
            <a:ext cx="5394960" cy="3657600"/>
          </a:xfrm>
          <a:prstGeom prst="roundRect">
            <a:avLst>
              <a:gd name="adj" fmla="val 3000"/>
            </a:avLst>
          </a:prstGeom>
          <a:solidFill>
            <a:schemeClr val="bg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4" name="Text 2"/>
          <p:cNvSpPr txBox="1"/>
          <p:nvPr/>
        </p:nvSpPr>
        <p:spPr>
          <a:xfrm>
            <a:off x="822960" y="1645920"/>
            <a:ext cx="4846320" cy="365760"/>
          </a:xfrm>
          <a:prstGeom prst="rect">
            <a:avLst/>
          </a:prstGeom>
          <a:noFill/>
          <a:ln/>
        </p:spPr>
        <p:txBody>
          <a:bodyPr wrap="square" lIns="0" tIns="0" rIns="0" bIns="0" rtlCol="0" anchor="t"/>
          <a:lstStyle/>
          <a:p>
            <a:pPr indent="0" marL="0">
              <a:buNone/>
            </a:pPr>
            <a:r>
              <a:rPr lang="en-US" sz="1400" b="1" spc="100" kern="0" dirty="0">
                <a:solidFill>
                  <a:schemeClr val="accent1"/>
                </a:solidFill>
              </a:rPr>
              <a:t>MVP · MUST HAVE (built)</a:t>
            </a:r>
            <a:endParaRPr lang="en-US" sz="1400" dirty="0"/>
          </a:p>
        </p:txBody>
      </p:sp>
      <p:sp>
        <p:nvSpPr>
          <p:cNvPr id="5" name="Text 3"/>
          <p:cNvSpPr txBox="1"/>
          <p:nvPr/>
        </p:nvSpPr>
        <p:spPr>
          <a:xfrm>
            <a:off x="822960" y="210312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Ranked radar with reasons and source links</a:t>
            </a:r>
            <a:endParaRPr lang="en-US" sz="1600" dirty="0"/>
          </a:p>
          <a:p>
            <a:pPr marL="342900" indent="-342900">
              <a:spcAft>
                <a:spcPts val="800"/>
              </a:spcAft>
              <a:buSzPct val="100000"/>
              <a:buChar char="•"/>
            </a:pPr>
            <a:r>
              <a:rPr lang="en-US" sz="1600" dirty="0">
                <a:solidFill>
                  <a:schemeClr val="tx1"/>
                </a:solidFill>
              </a:rPr>
              <a:t>Blocked panel and calendar with meeting dots</a:t>
            </a:r>
            <a:endParaRPr lang="en-US" sz="1600" dirty="0"/>
          </a:p>
          <a:p>
            <a:pPr marL="342900" indent="-342900">
              <a:spcAft>
                <a:spcPts val="800"/>
              </a:spcAft>
              <a:buSzPct val="100000"/>
              <a:buChar char="•"/>
            </a:pPr>
            <a:r>
              <a:rPr lang="en-US" sz="1600" dirty="0">
                <a:solidFill>
                  <a:schemeClr val="tx1"/>
                </a:solidFill>
              </a:rPr>
              <a:t>AI daily brief and item notes, with fallback</a:t>
            </a:r>
            <a:endParaRPr lang="en-US" sz="1600" dirty="0"/>
          </a:p>
          <a:p>
            <a:pPr marL="342900" indent="-342900">
              <a:spcAft>
                <a:spcPts val="800"/>
              </a:spcAft>
              <a:buSzPct val="100000"/>
              <a:buChar char="•"/>
            </a:pPr>
            <a:r>
              <a:rPr lang="en-US" sz="1600" dirty="0">
                <a:solidFill>
                  <a:schemeClr val="tx1"/>
                </a:solidFill>
              </a:rPr>
              <a:t>Done, Snooze, Assign with undo; Activity Log</a:t>
            </a:r>
            <a:endParaRPr lang="en-US" sz="1600" dirty="0"/>
          </a:p>
          <a:p>
            <a:pPr marL="342900" indent="-342900">
              <a:spcAft>
                <a:spcPts val="800"/>
              </a:spcAft>
              <a:buSzPct val="100000"/>
              <a:buChar char="•"/>
            </a:pPr>
            <a:r>
              <a:rPr lang="en-US" sz="1600" dirty="0">
                <a:solidFill>
                  <a:schemeClr val="tx1"/>
                </a:solidFill>
              </a:rPr>
              <a:t>Search, team health, themes, error states</a:t>
            </a:r>
            <a:endParaRPr lang="en-US" sz="1600" dirty="0"/>
          </a:p>
        </p:txBody>
      </p:sp>
      <p:sp>
        <p:nvSpPr>
          <p:cNvPr id="6" name="V2 should column"/>
          <p:cNvSpPr/>
          <p:nvPr/>
        </p:nvSpPr>
        <p:spPr>
          <a:xfrm>
            <a:off x="6217920" y="1417320"/>
            <a:ext cx="5394960" cy="3657600"/>
          </a:xfrm>
          <a:prstGeom prst="roundRect">
            <a:avLst>
              <a:gd name="adj" fmla="val 3000"/>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7" name="Text 5"/>
          <p:cNvSpPr txBox="1"/>
          <p:nvPr/>
        </p:nvSpPr>
        <p:spPr>
          <a:xfrm>
            <a:off x="6492240" y="1645920"/>
            <a:ext cx="4846320" cy="365760"/>
          </a:xfrm>
          <a:prstGeom prst="rect">
            <a:avLst/>
          </a:prstGeom>
          <a:noFill/>
          <a:ln/>
        </p:spPr>
        <p:txBody>
          <a:bodyPr wrap="square" lIns="0" tIns="0" rIns="0" bIns="0" rtlCol="0" anchor="t"/>
          <a:lstStyle/>
          <a:p>
            <a:pPr indent="0" marL="0">
              <a:buNone/>
            </a:pPr>
            <a:r>
              <a:rPr lang="en-US" sz="1400" b="1" spc="100" kern="0" dirty="0">
                <a:solidFill>
                  <a:schemeClr val="accent5"/>
                </a:solidFill>
              </a:rPr>
              <a:t>VERSION 2 · SHOULD HAVE</a:t>
            </a:r>
            <a:endParaRPr lang="en-US" sz="1400" dirty="0"/>
          </a:p>
        </p:txBody>
      </p:sp>
      <p:sp>
        <p:nvSpPr>
          <p:cNvPr id="8" name="Text 6"/>
          <p:cNvSpPr txBox="1"/>
          <p:nvPr/>
        </p:nvSpPr>
        <p:spPr>
          <a:xfrm>
            <a:off x="6492240" y="210312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Live read-only connectors for all five tools</a:t>
            </a:r>
            <a:endParaRPr lang="en-US" sz="1600" dirty="0"/>
          </a:p>
          <a:p>
            <a:pPr marL="342900" indent="-342900">
              <a:spcAft>
                <a:spcPts val="800"/>
              </a:spcAft>
              <a:buSzPct val="100000"/>
              <a:buChar char="•"/>
            </a:pPr>
            <a:r>
              <a:rPr lang="en-US" sz="1600" dirty="0">
                <a:solidFill>
                  <a:schemeClr val="tx1"/>
                </a:solidFill>
              </a:rPr>
              <a:t>Write-back of Assign and Done to Jira and GitHub</a:t>
            </a:r>
            <a:endParaRPr lang="en-US" sz="1600" dirty="0"/>
          </a:p>
          <a:p>
            <a:pPr marL="342900" indent="-342900">
              <a:spcAft>
                <a:spcPts val="800"/>
              </a:spcAft>
              <a:buSzPct val="100000"/>
              <a:buChar char="•"/>
            </a:pPr>
            <a:r>
              <a:rPr lang="en-US" sz="1600" dirty="0">
                <a:solidFill>
                  <a:schemeClr val="tx1"/>
                </a:solidFill>
              </a:rPr>
              <a:t>Suggested meeting slot inserted into replies</a:t>
            </a:r>
            <a:endParaRPr lang="en-US" sz="1600" dirty="0"/>
          </a:p>
          <a:p>
            <a:pPr marL="342900" indent="-342900">
              <a:spcAft>
                <a:spcPts val="800"/>
              </a:spcAft>
              <a:buSzPct val="100000"/>
              <a:buChar char="•"/>
            </a:pPr>
            <a:r>
              <a:rPr lang="en-US" sz="1600" dirty="0">
                <a:solidFill>
                  <a:schemeClr val="tx1"/>
                </a:solidFill>
              </a:rPr>
              <a:t>Slack bot confirms tagged items</a:t>
            </a:r>
            <a:endParaRPr lang="en-US" sz="1600" dirty="0"/>
          </a:p>
          <a:p>
            <a:pPr marL="342900" indent="-342900">
              <a:spcAft>
                <a:spcPts val="800"/>
              </a:spcAft>
              <a:buSzPct val="100000"/>
              <a:buChar char="•"/>
            </a:pPr>
            <a:r>
              <a:rPr lang="en-US" sz="1600" dirty="0">
                <a:solidFill>
                  <a:schemeClr val="tx1"/>
                </a:solidFill>
              </a:rPr>
              <a:t>Morning digest; cross-tool de-duplication</a:t>
            </a:r>
            <a:endParaRPr lang="en-US" sz="1600" dirty="0"/>
          </a:p>
        </p:txBody>
      </p:sp>
      <p:sp>
        <p:nvSpPr>
          <p:cNvPr id="9" name="frameworks banner"/>
          <p:cNvSpPr/>
          <p:nvPr/>
        </p:nvSpPr>
        <p:spPr>
          <a:xfrm>
            <a:off x="548640" y="5303520"/>
            <a:ext cx="11064240" cy="731520"/>
          </a:xfrm>
          <a:prstGeom prst="roundRect">
            <a:avLst>
              <a:gd name="adj" fmla="val 15000"/>
            </a:avLst>
          </a:prstGeom>
          <a:solidFill>
            <a:schemeClr val="tx2"/>
          </a:solidFill>
          <a:ln/>
        </p:spPr>
      </p:sp>
      <p:sp>
        <p:nvSpPr>
          <p:cNvPr id="10" name="Text 8"/>
          <p:cNvSpPr txBox="1"/>
          <p:nvPr/>
        </p:nvSpPr>
        <p:spPr>
          <a:xfrm>
            <a:off x="822960" y="5303520"/>
            <a:ext cx="10607040" cy="731520"/>
          </a:xfrm>
          <a:prstGeom prst="rect">
            <a:avLst/>
          </a:prstGeom>
          <a:noFill/>
          <a:ln/>
        </p:spPr>
        <p:txBody>
          <a:bodyPr wrap="square" lIns="0" tIns="0" rIns="0" bIns="0" rtlCol="0" anchor="ctr"/>
          <a:lstStyle/>
          <a:p>
            <a:pPr indent="0" marL="0">
              <a:buNone/>
            </a:pPr>
            <a:r>
              <a:rPr lang="en-US" sz="1500" b="1" dirty="0">
                <a:solidFill>
                  <a:schemeClr val="accent2"/>
                </a:solidFill>
              </a:rPr>
              <a:t>Converged with Kano, RICE, impact vs effort and MoSCoW.  </a:t>
            </a:r>
            <a:pPr indent="0" marL="0">
              <a:buNone/>
            </a:pPr>
            <a:r>
              <a:rPr lang="en-US" sz="1500" dirty="0">
                <a:solidFill>
                  <a:schemeClr val="bg1"/>
                </a:solidFill>
              </a:rPr>
              <a:t>Top RICE: exact-message links 360 · why-ranked 320 · blocked panel 192</a:t>
            </a:r>
            <a:endParaRPr lang="en-US" sz="15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AI built it fast; I made the product calls</a:t>
            </a:r>
            <a:endParaRPr lang="en-US" sz="3200" dirty="0"/>
          </a:p>
        </p:txBody>
      </p:sp>
      <p:sp>
        <p:nvSpPr>
          <p:cNvPr id="3" name="tool chip Claude"/>
          <p:cNvSpPr/>
          <p:nvPr/>
        </p:nvSpPr>
        <p:spPr>
          <a:xfrm>
            <a:off x="548640" y="1371600"/>
            <a:ext cx="1719072" cy="502920"/>
          </a:xfrm>
          <a:prstGeom prst="roundRect">
            <a:avLst>
              <a:gd name="adj" fmla="val 49091"/>
            </a:avLst>
          </a:prstGeom>
          <a:solidFill>
            <a:schemeClr val="bg2"/>
          </a:solidFill>
          <a:ln w="12700">
            <a:solidFill>
              <a:schemeClr val="accent1"/>
            </a:solidFill>
            <a:prstDash val="solid"/>
          </a:ln>
        </p:spPr>
      </p:sp>
      <p:sp>
        <p:nvSpPr>
          <p:cNvPr id="4" name="Text 2"/>
          <p:cNvSpPr txBox="1"/>
          <p:nvPr/>
        </p:nvSpPr>
        <p:spPr>
          <a:xfrm>
            <a:off x="548640" y="1371600"/>
            <a:ext cx="1719072" cy="502920"/>
          </a:xfrm>
          <a:prstGeom prst="rect">
            <a:avLst/>
          </a:prstGeom>
          <a:noFill/>
          <a:ln/>
        </p:spPr>
        <p:txBody>
          <a:bodyPr wrap="square" lIns="0" tIns="0" rIns="0" bIns="0" rtlCol="0" anchor="ctr"/>
          <a:lstStyle/>
          <a:p>
            <a:pPr algn="ctr" indent="0" marL="0">
              <a:buNone/>
            </a:pPr>
            <a:r>
              <a:rPr lang="en-US" sz="1300" b="1" dirty="0">
                <a:solidFill>
                  <a:schemeClr val="accent1"/>
                </a:solidFill>
              </a:rPr>
              <a:t>Claude</a:t>
            </a:r>
            <a:endParaRPr lang="en-US" sz="1300" dirty="0"/>
          </a:p>
        </p:txBody>
      </p:sp>
      <p:sp>
        <p:nvSpPr>
          <p:cNvPr id="5" name="tool chip Claude Docs"/>
          <p:cNvSpPr/>
          <p:nvPr/>
        </p:nvSpPr>
        <p:spPr>
          <a:xfrm>
            <a:off x="2423160" y="1371600"/>
            <a:ext cx="1719072" cy="502920"/>
          </a:xfrm>
          <a:prstGeom prst="roundRect">
            <a:avLst>
              <a:gd name="adj" fmla="val 49091"/>
            </a:avLst>
          </a:prstGeom>
          <a:solidFill>
            <a:schemeClr val="bg2"/>
          </a:solidFill>
          <a:ln w="12700">
            <a:solidFill>
              <a:schemeClr val="accent1"/>
            </a:solidFill>
            <a:prstDash val="solid"/>
          </a:ln>
        </p:spPr>
      </p:sp>
      <p:sp>
        <p:nvSpPr>
          <p:cNvPr id="6" name="Text 4"/>
          <p:cNvSpPr txBox="1"/>
          <p:nvPr/>
        </p:nvSpPr>
        <p:spPr>
          <a:xfrm>
            <a:off x="2423160" y="1371600"/>
            <a:ext cx="1719072" cy="502920"/>
          </a:xfrm>
          <a:prstGeom prst="rect">
            <a:avLst/>
          </a:prstGeom>
          <a:noFill/>
          <a:ln/>
        </p:spPr>
        <p:txBody>
          <a:bodyPr wrap="square" lIns="0" tIns="0" rIns="0" bIns="0" rtlCol="0" anchor="ctr"/>
          <a:lstStyle/>
          <a:p>
            <a:pPr algn="ctr" indent="0" marL="0">
              <a:buNone/>
            </a:pPr>
            <a:r>
              <a:rPr lang="en-US" sz="1300" b="1" dirty="0">
                <a:solidFill>
                  <a:schemeClr val="accent1"/>
                </a:solidFill>
              </a:rPr>
              <a:t>Claude Docs</a:t>
            </a:r>
            <a:endParaRPr lang="en-US" sz="1300" dirty="0"/>
          </a:p>
        </p:txBody>
      </p:sp>
      <p:sp>
        <p:nvSpPr>
          <p:cNvPr id="7" name="tool chip Web research"/>
          <p:cNvSpPr/>
          <p:nvPr/>
        </p:nvSpPr>
        <p:spPr>
          <a:xfrm>
            <a:off x="4297680" y="1371600"/>
            <a:ext cx="1719072" cy="502920"/>
          </a:xfrm>
          <a:prstGeom prst="roundRect">
            <a:avLst>
              <a:gd name="adj" fmla="val 49091"/>
            </a:avLst>
          </a:prstGeom>
          <a:solidFill>
            <a:schemeClr val="bg2"/>
          </a:solidFill>
          <a:ln w="12700">
            <a:solidFill>
              <a:schemeClr val="accent1"/>
            </a:solidFill>
            <a:prstDash val="solid"/>
          </a:ln>
        </p:spPr>
      </p:sp>
      <p:sp>
        <p:nvSpPr>
          <p:cNvPr id="8" name="Text 6"/>
          <p:cNvSpPr txBox="1"/>
          <p:nvPr/>
        </p:nvSpPr>
        <p:spPr>
          <a:xfrm>
            <a:off x="4297680" y="1371600"/>
            <a:ext cx="1719072" cy="502920"/>
          </a:xfrm>
          <a:prstGeom prst="rect">
            <a:avLst/>
          </a:prstGeom>
          <a:noFill/>
          <a:ln/>
        </p:spPr>
        <p:txBody>
          <a:bodyPr wrap="square" lIns="0" tIns="0" rIns="0" bIns="0" rtlCol="0" anchor="ctr"/>
          <a:lstStyle/>
          <a:p>
            <a:pPr algn="ctr" indent="0" marL="0">
              <a:buNone/>
            </a:pPr>
            <a:r>
              <a:rPr lang="en-US" sz="1300" b="1" dirty="0">
                <a:solidFill>
                  <a:schemeClr val="accent1"/>
                </a:solidFill>
              </a:rPr>
              <a:t>Web research</a:t>
            </a:r>
            <a:endParaRPr lang="en-US" sz="1300" dirty="0"/>
          </a:p>
        </p:txBody>
      </p:sp>
      <p:sp>
        <p:nvSpPr>
          <p:cNvPr id="9" name="tool chip Google Stitch"/>
          <p:cNvSpPr/>
          <p:nvPr/>
        </p:nvSpPr>
        <p:spPr>
          <a:xfrm>
            <a:off x="6172200" y="1371600"/>
            <a:ext cx="1719072" cy="502920"/>
          </a:xfrm>
          <a:prstGeom prst="roundRect">
            <a:avLst>
              <a:gd name="adj" fmla="val 49091"/>
            </a:avLst>
          </a:prstGeom>
          <a:solidFill>
            <a:schemeClr val="bg2"/>
          </a:solidFill>
          <a:ln w="12700">
            <a:solidFill>
              <a:schemeClr val="accent1"/>
            </a:solidFill>
            <a:prstDash val="solid"/>
          </a:ln>
        </p:spPr>
      </p:sp>
      <p:sp>
        <p:nvSpPr>
          <p:cNvPr id="10" name="Text 8"/>
          <p:cNvSpPr txBox="1"/>
          <p:nvPr/>
        </p:nvSpPr>
        <p:spPr>
          <a:xfrm>
            <a:off x="6172200" y="1371600"/>
            <a:ext cx="1719072" cy="502920"/>
          </a:xfrm>
          <a:prstGeom prst="rect">
            <a:avLst/>
          </a:prstGeom>
          <a:noFill/>
          <a:ln/>
        </p:spPr>
        <p:txBody>
          <a:bodyPr wrap="square" lIns="0" tIns="0" rIns="0" bIns="0" rtlCol="0" anchor="ctr"/>
          <a:lstStyle/>
          <a:p>
            <a:pPr algn="ctr" indent="0" marL="0">
              <a:buNone/>
            </a:pPr>
            <a:r>
              <a:rPr lang="en-US" sz="1300" b="1" dirty="0">
                <a:solidFill>
                  <a:schemeClr val="accent1"/>
                </a:solidFill>
              </a:rPr>
              <a:t>Google Stitch</a:t>
            </a:r>
            <a:endParaRPr lang="en-US" sz="1300" dirty="0"/>
          </a:p>
        </p:txBody>
      </p:sp>
      <p:sp>
        <p:nvSpPr>
          <p:cNvPr id="11" name="tool chip Hosted AI runtime"/>
          <p:cNvSpPr/>
          <p:nvPr/>
        </p:nvSpPr>
        <p:spPr>
          <a:xfrm>
            <a:off x="8046720" y="1371600"/>
            <a:ext cx="1719072" cy="502920"/>
          </a:xfrm>
          <a:prstGeom prst="roundRect">
            <a:avLst>
              <a:gd name="adj" fmla="val 49091"/>
            </a:avLst>
          </a:prstGeom>
          <a:solidFill>
            <a:schemeClr val="bg2"/>
          </a:solidFill>
          <a:ln w="12700">
            <a:solidFill>
              <a:schemeClr val="accent1"/>
            </a:solidFill>
            <a:prstDash val="solid"/>
          </a:ln>
        </p:spPr>
      </p:sp>
      <p:sp>
        <p:nvSpPr>
          <p:cNvPr id="12" name="Text 10"/>
          <p:cNvSpPr txBox="1"/>
          <p:nvPr/>
        </p:nvSpPr>
        <p:spPr>
          <a:xfrm>
            <a:off x="8046720" y="1371600"/>
            <a:ext cx="1719072" cy="502920"/>
          </a:xfrm>
          <a:prstGeom prst="rect">
            <a:avLst/>
          </a:prstGeom>
          <a:noFill/>
          <a:ln/>
        </p:spPr>
        <p:txBody>
          <a:bodyPr wrap="square" lIns="0" tIns="0" rIns="0" bIns="0" rtlCol="0" anchor="ctr"/>
          <a:lstStyle/>
          <a:p>
            <a:pPr algn="ctr" indent="0" marL="0">
              <a:buNone/>
            </a:pPr>
            <a:r>
              <a:rPr lang="en-US" sz="1300" b="1" dirty="0">
                <a:solidFill>
                  <a:schemeClr val="accent1"/>
                </a:solidFill>
              </a:rPr>
              <a:t>Hosted AI runtime</a:t>
            </a:r>
            <a:endParaRPr lang="en-US" sz="1300" dirty="0"/>
          </a:p>
        </p:txBody>
      </p:sp>
      <p:sp>
        <p:nvSpPr>
          <p:cNvPr id="13" name="tool chip Rendered checks"/>
          <p:cNvSpPr/>
          <p:nvPr/>
        </p:nvSpPr>
        <p:spPr>
          <a:xfrm>
            <a:off x="9921240" y="1371600"/>
            <a:ext cx="1719072" cy="502920"/>
          </a:xfrm>
          <a:prstGeom prst="roundRect">
            <a:avLst>
              <a:gd name="adj" fmla="val 49091"/>
            </a:avLst>
          </a:prstGeom>
          <a:solidFill>
            <a:schemeClr val="bg2"/>
          </a:solidFill>
          <a:ln w="12700">
            <a:solidFill>
              <a:schemeClr val="accent1"/>
            </a:solidFill>
            <a:prstDash val="solid"/>
          </a:ln>
        </p:spPr>
      </p:sp>
      <p:sp>
        <p:nvSpPr>
          <p:cNvPr id="14" name="Text 12"/>
          <p:cNvSpPr txBox="1"/>
          <p:nvPr/>
        </p:nvSpPr>
        <p:spPr>
          <a:xfrm>
            <a:off x="9921240" y="1371600"/>
            <a:ext cx="1719072" cy="502920"/>
          </a:xfrm>
          <a:prstGeom prst="rect">
            <a:avLst/>
          </a:prstGeom>
          <a:noFill/>
          <a:ln/>
        </p:spPr>
        <p:txBody>
          <a:bodyPr wrap="square" lIns="0" tIns="0" rIns="0" bIns="0" rtlCol="0" anchor="ctr"/>
          <a:lstStyle/>
          <a:p>
            <a:pPr algn="ctr" indent="0" marL="0">
              <a:buNone/>
            </a:pPr>
            <a:r>
              <a:rPr lang="en-US" sz="1300" b="1" dirty="0">
                <a:solidFill>
                  <a:schemeClr val="accent1"/>
                </a:solidFill>
              </a:rPr>
              <a:t>Rendered checks</a:t>
            </a:r>
            <a:endParaRPr lang="en-US" sz="1300" dirty="0"/>
          </a:p>
        </p:txBody>
      </p:sp>
      <p:sp>
        <p:nvSpPr>
          <p:cNvPr id="15" name="AI generated card"/>
          <p:cNvSpPr/>
          <p:nvPr/>
        </p:nvSpPr>
        <p:spPr>
          <a:xfrm>
            <a:off x="548640" y="2148840"/>
            <a:ext cx="4572000" cy="3611880"/>
          </a:xfrm>
          <a:prstGeom prst="roundRect">
            <a:avLst>
              <a:gd name="adj" fmla="val 3038"/>
            </a:avLst>
          </a:prstGeom>
          <a:solidFill>
            <a:schemeClr val="bg1"/>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6" name="Text 14"/>
          <p:cNvSpPr txBox="1"/>
          <p:nvPr/>
        </p:nvSpPr>
        <p:spPr>
          <a:xfrm>
            <a:off x="822960" y="2377440"/>
            <a:ext cx="4023360" cy="320040"/>
          </a:xfrm>
          <a:prstGeom prst="rect">
            <a:avLst/>
          </a:prstGeom>
          <a:noFill/>
          <a:ln/>
        </p:spPr>
        <p:txBody>
          <a:bodyPr wrap="square" lIns="0" tIns="0" rIns="0" bIns="0" rtlCol="0" anchor="t"/>
          <a:lstStyle/>
          <a:p>
            <a:pPr indent="0" marL="0">
              <a:buNone/>
            </a:pPr>
            <a:r>
              <a:rPr lang="en-US" sz="1300" b="1" spc="200" kern="0" dirty="0">
                <a:solidFill>
                  <a:schemeClr val="accent6"/>
                </a:solidFill>
              </a:rPr>
              <a:t>AI GENERATED</a:t>
            </a:r>
            <a:endParaRPr lang="en-US" sz="1300" dirty="0"/>
          </a:p>
        </p:txBody>
      </p:sp>
      <p:sp>
        <p:nvSpPr>
          <p:cNvPr id="17" name="Text 15"/>
          <p:cNvSpPr txBox="1"/>
          <p:nvPr/>
        </p:nvSpPr>
        <p:spPr>
          <a:xfrm>
            <a:off x="822960" y="278892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Research on all four tools and the market</a:t>
            </a:r>
            <a:endParaRPr lang="en-US" sz="1500" dirty="0"/>
          </a:p>
          <a:p>
            <a:pPr marL="342900" indent="-342900">
              <a:spcAft>
                <a:spcPts val="600"/>
              </a:spcAft>
              <a:buSzPct val="100000"/>
              <a:buChar char="•"/>
            </a:pPr>
            <a:r>
              <a:rPr lang="en-US" sz="1500" dirty="0">
                <a:solidFill>
                  <a:schemeClr val="tx1"/>
                </a:solidFill>
              </a:rPr>
              <a:t>Strategy, 5 Whys, Kano, RICE, metrics</a:t>
            </a:r>
            <a:endParaRPr lang="en-US" sz="1500" dirty="0"/>
          </a:p>
          <a:p>
            <a:pPr marL="342900" indent="-342900">
              <a:spcAft>
                <a:spcPts val="600"/>
              </a:spcAft>
              <a:buSzPct val="100000"/>
              <a:buChar char="•"/>
            </a:pPr>
            <a:r>
              <a:rPr lang="en-US" sz="1500" dirty="0">
                <a:solidFill>
                  <a:schemeClr val="tx1"/>
                </a:solidFill>
              </a:rPr>
              <a:t>PRD drafts and the UI/UX specification</a:t>
            </a:r>
            <a:endParaRPr lang="en-US" sz="1500" dirty="0"/>
          </a:p>
          <a:p>
            <a:pPr marL="342900" indent="-342900">
              <a:spcAft>
                <a:spcPts val="600"/>
              </a:spcAft>
              <a:buSzPct val="100000"/>
              <a:buChar char="•"/>
            </a:pPr>
            <a:r>
              <a:rPr lang="en-US" sz="1500" dirty="0">
                <a:solidFill>
                  <a:schemeClr val="tx1"/>
                </a:solidFill>
              </a:rPr>
              <a:t>Google Stitch prompts for every screen</a:t>
            </a:r>
            <a:endParaRPr lang="en-US" sz="1500" dirty="0"/>
          </a:p>
          <a:p>
            <a:pPr marL="342900" indent="-342900">
              <a:spcAft>
                <a:spcPts val="600"/>
              </a:spcAft>
              <a:buSzPct val="100000"/>
              <a:buChar char="•"/>
            </a:pPr>
            <a:r>
              <a:rPr lang="en-US" sz="1500" dirty="0">
                <a:solidFill>
                  <a:schemeClr val="tx1"/>
                </a:solidFill>
              </a:rPr>
              <a:t>The MVP code, tested on desktop and phone</a:t>
            </a:r>
            <a:endParaRPr lang="en-US" sz="1500" dirty="0"/>
          </a:p>
        </p:txBody>
      </p:sp>
      <p:sp>
        <p:nvSpPr>
          <p:cNvPr id="18" name="human decisions card"/>
          <p:cNvSpPr/>
          <p:nvPr/>
        </p:nvSpPr>
        <p:spPr>
          <a:xfrm>
            <a:off x="5394960" y="2148840"/>
            <a:ext cx="6217920" cy="3611880"/>
          </a:xfrm>
          <a:prstGeom prst="roundRect">
            <a:avLst>
              <a:gd name="adj" fmla="val 3038"/>
            </a:avLst>
          </a:prstGeom>
          <a:solidFill>
            <a:schemeClr val="tx2"/>
          </a:solidFill>
          <a:ln w="9525">
            <a:solidFill>
              <a:srgbClr val="D7E5E2"/>
            </a:solidFill>
            <a:prstDash val="solid"/>
          </a:ln>
          <a:effectLst>
            <a:outerShdw sx="100000" sy="100000" kx="0" ky="0" algn="bl" rotWithShape="0" blurRad="101600" dist="25400" dir="5400000">
              <a:srgbClr val="0E2A2F">
                <a:alpha val="12000"/>
              </a:srgbClr>
            </a:outerShdw>
          </a:effectLst>
        </p:spPr>
      </p:sp>
      <p:sp>
        <p:nvSpPr>
          <p:cNvPr id="19" name="Text 17"/>
          <p:cNvSpPr txBox="1"/>
          <p:nvPr/>
        </p:nvSpPr>
        <p:spPr>
          <a:xfrm>
            <a:off x="5669280" y="2377440"/>
            <a:ext cx="566928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WHAT I CHANGED</a:t>
            </a:r>
            <a:endParaRPr lang="en-US" sz="1300" dirty="0"/>
          </a:p>
        </p:txBody>
      </p:sp>
      <p:sp>
        <p:nvSpPr>
          <p:cNvPr id="20" name="Text 18"/>
          <p:cNvSpPr txBox="1"/>
          <p:nvPr/>
        </p:nvSpPr>
        <p:spPr>
          <a:xfrm>
            <a:off x="5669280" y="2816352"/>
            <a:ext cx="2514600" cy="457200"/>
          </a:xfrm>
          <a:prstGeom prst="rect">
            <a:avLst/>
          </a:prstGeom>
          <a:noFill/>
          <a:ln/>
        </p:spPr>
        <p:txBody>
          <a:bodyPr wrap="square" lIns="0" tIns="0" rIns="0" bIns="0" rtlCol="0" anchor="ctr"/>
          <a:lstStyle/>
          <a:p>
            <a:pPr indent="0" marL="0">
              <a:buNone/>
            </a:pPr>
            <a:r>
              <a:rPr lang="en-US" sz="1400" strike="sngStrike" dirty="0">
                <a:solidFill>
                  <a:srgbClr val="9FC9C2"/>
                </a:solidFill>
              </a:rPr>
              <a:t>Engineering manager</a:t>
            </a:r>
            <a:endParaRPr lang="en-US" sz="1400" dirty="0"/>
          </a:p>
        </p:txBody>
      </p:sp>
      <p:sp>
        <p:nvSpPr>
          <p:cNvPr id="21" name="Text 19"/>
          <p:cNvSpPr txBox="1"/>
          <p:nvPr/>
        </p:nvSpPr>
        <p:spPr>
          <a:xfrm>
            <a:off x="8183880" y="2816352"/>
            <a:ext cx="365760" cy="45720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22" name="Text 20"/>
          <p:cNvSpPr txBox="1"/>
          <p:nvPr/>
        </p:nvSpPr>
        <p:spPr>
          <a:xfrm>
            <a:off x="8595360" y="2816352"/>
            <a:ext cx="2880360" cy="457200"/>
          </a:xfrm>
          <a:prstGeom prst="rect">
            <a:avLst/>
          </a:prstGeom>
          <a:noFill/>
          <a:ln/>
        </p:spPr>
        <p:txBody>
          <a:bodyPr wrap="square" lIns="0" tIns="0" rIns="0" bIns="0" rtlCol="0" anchor="ctr"/>
          <a:lstStyle/>
          <a:p>
            <a:pPr indent="0" marL="0">
              <a:buNone/>
            </a:pPr>
            <a:r>
              <a:rPr lang="en-US" sz="1400" b="1" dirty="0">
                <a:solidFill>
                  <a:schemeClr val="bg1"/>
                </a:solidFill>
              </a:rPr>
              <a:t>Startup product manager</a:t>
            </a:r>
            <a:endParaRPr lang="en-US" sz="1400" dirty="0"/>
          </a:p>
        </p:txBody>
      </p:sp>
      <p:sp>
        <p:nvSpPr>
          <p:cNvPr id="23" name="Text 21"/>
          <p:cNvSpPr txBox="1"/>
          <p:nvPr/>
        </p:nvSpPr>
        <p:spPr>
          <a:xfrm>
            <a:off x="5669280" y="3364992"/>
            <a:ext cx="2514600" cy="457200"/>
          </a:xfrm>
          <a:prstGeom prst="rect">
            <a:avLst/>
          </a:prstGeom>
          <a:noFill/>
          <a:ln/>
        </p:spPr>
        <p:txBody>
          <a:bodyPr wrap="square" lIns="0" tIns="0" rIns="0" bIns="0" rtlCol="0" anchor="ctr"/>
          <a:lstStyle/>
          <a:p>
            <a:pPr indent="0" marL="0">
              <a:buNone/>
            </a:pPr>
            <a:r>
              <a:rPr lang="en-US" sz="1400" strike="sngStrike" dirty="0">
                <a:solidFill>
                  <a:srgbClr val="9FC9C2"/>
                </a:solidFill>
              </a:rPr>
              <a:t>AI summarises everything</a:t>
            </a:r>
            <a:endParaRPr lang="en-US" sz="1400" dirty="0"/>
          </a:p>
        </p:txBody>
      </p:sp>
      <p:sp>
        <p:nvSpPr>
          <p:cNvPr id="24" name="Text 22"/>
          <p:cNvSpPr txBox="1"/>
          <p:nvPr/>
        </p:nvSpPr>
        <p:spPr>
          <a:xfrm>
            <a:off x="8183880" y="3364992"/>
            <a:ext cx="365760" cy="45720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25" name="Text 23"/>
          <p:cNvSpPr txBox="1"/>
          <p:nvPr/>
        </p:nvSpPr>
        <p:spPr>
          <a:xfrm>
            <a:off x="8595360" y="3364992"/>
            <a:ext cx="2880360" cy="457200"/>
          </a:xfrm>
          <a:prstGeom prst="rect">
            <a:avLst/>
          </a:prstGeom>
          <a:noFill/>
          <a:ln/>
        </p:spPr>
        <p:txBody>
          <a:bodyPr wrap="square" lIns="0" tIns="0" rIns="0" bIns="0" rtlCol="0" anchor="ctr"/>
          <a:lstStyle/>
          <a:p>
            <a:pPr indent="0" marL="0">
              <a:buNone/>
            </a:pPr>
            <a:r>
              <a:rPr lang="en-US" sz="1400" b="1" dirty="0">
                <a:solidFill>
                  <a:schemeClr val="bg1"/>
                </a:solidFill>
              </a:rPr>
              <a:t>Rank and link to the exact message</a:t>
            </a:r>
            <a:endParaRPr lang="en-US" sz="1400" dirty="0"/>
          </a:p>
        </p:txBody>
      </p:sp>
      <p:sp>
        <p:nvSpPr>
          <p:cNvPr id="26" name="Text 24"/>
          <p:cNvSpPr txBox="1"/>
          <p:nvPr/>
        </p:nvSpPr>
        <p:spPr>
          <a:xfrm>
            <a:off x="5669280" y="3913632"/>
            <a:ext cx="2514600" cy="457200"/>
          </a:xfrm>
          <a:prstGeom prst="rect">
            <a:avLst/>
          </a:prstGeom>
          <a:noFill/>
          <a:ln/>
        </p:spPr>
        <p:txBody>
          <a:bodyPr wrap="square" lIns="0" tIns="0" rIns="0" bIns="0" rtlCol="0" anchor="ctr"/>
          <a:lstStyle/>
          <a:p>
            <a:pPr indent="0" marL="0">
              <a:buNone/>
            </a:pPr>
            <a:r>
              <a:rPr lang="en-US" sz="1400" strike="sngStrike" dirty="0">
                <a:solidFill>
                  <a:srgbClr val="9FC9C2"/>
                </a:solidFill>
              </a:rPr>
              <a:t>AI guesses blockers</a:t>
            </a:r>
            <a:endParaRPr lang="en-US" sz="1400" dirty="0"/>
          </a:p>
        </p:txBody>
      </p:sp>
      <p:sp>
        <p:nvSpPr>
          <p:cNvPr id="27" name="Text 25"/>
          <p:cNvSpPr txBox="1"/>
          <p:nvPr/>
        </p:nvSpPr>
        <p:spPr>
          <a:xfrm>
            <a:off x="8183880" y="3913632"/>
            <a:ext cx="365760" cy="45720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28" name="Text 26"/>
          <p:cNvSpPr txBox="1"/>
          <p:nvPr/>
        </p:nvSpPr>
        <p:spPr>
          <a:xfrm>
            <a:off x="8595360" y="3913632"/>
            <a:ext cx="2880360" cy="457200"/>
          </a:xfrm>
          <a:prstGeom prst="rect">
            <a:avLst/>
          </a:prstGeom>
          <a:noFill/>
          <a:ln/>
        </p:spPr>
        <p:txBody>
          <a:bodyPr wrap="square" lIns="0" tIns="0" rIns="0" bIns="0" rtlCol="0" anchor="ctr"/>
          <a:lstStyle/>
          <a:p>
            <a:pPr indent="0" marL="0">
              <a:buNone/>
            </a:pPr>
            <a:r>
              <a:rPr lang="en-US" sz="1400" b="1" dirty="0">
                <a:solidFill>
                  <a:schemeClr val="bg1"/>
                </a:solidFill>
              </a:rPr>
              <a:t>@pm tags, AI only as fallback</a:t>
            </a:r>
            <a:endParaRPr lang="en-US" sz="1400" dirty="0"/>
          </a:p>
        </p:txBody>
      </p:sp>
      <p:sp>
        <p:nvSpPr>
          <p:cNvPr id="29" name="Text 27"/>
          <p:cNvSpPr txBox="1"/>
          <p:nvPr/>
        </p:nvSpPr>
        <p:spPr>
          <a:xfrm>
            <a:off x="5669280" y="4462272"/>
            <a:ext cx="2514600" cy="457200"/>
          </a:xfrm>
          <a:prstGeom prst="rect">
            <a:avLst/>
          </a:prstGeom>
          <a:noFill/>
          <a:ln/>
        </p:spPr>
        <p:txBody>
          <a:bodyPr wrap="square" lIns="0" tIns="0" rIns="0" bIns="0" rtlCol="0" anchor="ctr"/>
          <a:lstStyle/>
          <a:p>
            <a:pPr indent="0" marL="0">
              <a:buNone/>
            </a:pPr>
            <a:r>
              <a:rPr lang="en-US" sz="1400" strike="sngStrike" dirty="0">
                <a:solidFill>
                  <a:srgbClr val="9FC9C2"/>
                </a:solidFill>
              </a:rPr>
              <a:t>Average day</a:t>
            </a:r>
            <a:endParaRPr lang="en-US" sz="1400" dirty="0"/>
          </a:p>
        </p:txBody>
      </p:sp>
      <p:sp>
        <p:nvSpPr>
          <p:cNvPr id="30" name="Text 28"/>
          <p:cNvSpPr txBox="1"/>
          <p:nvPr/>
        </p:nvSpPr>
        <p:spPr>
          <a:xfrm>
            <a:off x="8183880" y="4462272"/>
            <a:ext cx="365760" cy="45720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31" name="Text 29"/>
          <p:cNvSpPr txBox="1"/>
          <p:nvPr/>
        </p:nvSpPr>
        <p:spPr>
          <a:xfrm>
            <a:off x="8595360" y="4462272"/>
            <a:ext cx="2880360" cy="457200"/>
          </a:xfrm>
          <a:prstGeom prst="rect">
            <a:avLst/>
          </a:prstGeom>
          <a:noFill/>
          <a:ln/>
        </p:spPr>
        <p:txBody>
          <a:bodyPr wrap="square" lIns="0" tIns="0" rIns="0" bIns="0" rtlCol="0" anchor="ctr"/>
          <a:lstStyle/>
          <a:p>
            <a:pPr indent="0" marL="0">
              <a:buNone/>
            </a:pPr>
            <a:r>
              <a:rPr lang="en-US" sz="1400" b="1" dirty="0">
                <a:solidFill>
                  <a:schemeClr val="bg1"/>
                </a:solidFill>
              </a:rPr>
              <a:t>Designed for 50 people, 60 items</a:t>
            </a:r>
            <a:endParaRPr lang="en-US" sz="1400" dirty="0"/>
          </a:p>
        </p:txBody>
      </p:sp>
      <p:sp>
        <p:nvSpPr>
          <p:cNvPr id="32" name="Text 30"/>
          <p:cNvSpPr txBox="1"/>
          <p:nvPr/>
        </p:nvSpPr>
        <p:spPr>
          <a:xfrm>
            <a:off x="5669280" y="5010912"/>
            <a:ext cx="2514600" cy="457200"/>
          </a:xfrm>
          <a:prstGeom prst="rect">
            <a:avLst/>
          </a:prstGeom>
          <a:noFill/>
          <a:ln/>
        </p:spPr>
        <p:txBody>
          <a:bodyPr wrap="square" lIns="0" tIns="0" rIns="0" bIns="0" rtlCol="0" anchor="ctr"/>
          <a:lstStyle/>
          <a:p>
            <a:pPr indent="0" marL="0">
              <a:buNone/>
            </a:pPr>
            <a:r>
              <a:rPr lang="en-US" sz="1400" strike="sngStrike" dirty="0">
                <a:solidFill>
                  <a:srgbClr val="9FC9C2"/>
                </a:solidFill>
              </a:rPr>
              <a:t>Actions without history</a:t>
            </a:r>
            <a:endParaRPr lang="en-US" sz="1400" dirty="0"/>
          </a:p>
        </p:txBody>
      </p:sp>
      <p:sp>
        <p:nvSpPr>
          <p:cNvPr id="33" name="Text 31"/>
          <p:cNvSpPr txBox="1"/>
          <p:nvPr/>
        </p:nvSpPr>
        <p:spPr>
          <a:xfrm>
            <a:off x="8183880" y="5010912"/>
            <a:ext cx="365760" cy="45720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34" name="Text 32"/>
          <p:cNvSpPr txBox="1"/>
          <p:nvPr/>
        </p:nvSpPr>
        <p:spPr>
          <a:xfrm>
            <a:off x="8595360" y="5010912"/>
            <a:ext cx="2880360" cy="457200"/>
          </a:xfrm>
          <a:prstGeom prst="rect">
            <a:avLst/>
          </a:prstGeom>
          <a:noFill/>
          <a:ln/>
        </p:spPr>
        <p:txBody>
          <a:bodyPr wrap="square" lIns="0" tIns="0" rIns="0" bIns="0" rtlCol="0" anchor="ctr"/>
          <a:lstStyle/>
          <a:p>
            <a:pPr indent="0" marL="0">
              <a:buNone/>
            </a:pPr>
            <a:r>
              <a:rPr lang="en-US" sz="1400" b="1" dirty="0">
                <a:solidFill>
                  <a:schemeClr val="bg1"/>
                </a:solidFill>
              </a:rPr>
              <a:t>Undo plus a no-delete Activity Log</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548640"/>
            <a:ext cx="10058400" cy="82296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Next: prove it on live data</a:t>
            </a:r>
            <a:endParaRPr lang="en-US" sz="3800" dirty="0"/>
          </a:p>
        </p:txBody>
      </p:sp>
      <p:sp>
        <p:nvSpPr>
          <p:cNvPr id="3" name="phase MVP · now"/>
          <p:cNvSpPr/>
          <p:nvPr/>
        </p:nvSpPr>
        <p:spPr>
          <a:xfrm>
            <a:off x="640080" y="1691640"/>
            <a:ext cx="3474720" cy="2514600"/>
          </a:xfrm>
          <a:prstGeom prst="roundRect">
            <a:avLst>
              <a:gd name="adj" fmla="val 4364"/>
            </a:avLst>
          </a:prstGeom>
          <a:solidFill>
            <a:schemeClr val="accent1"/>
          </a:solidFill>
          <a:ln/>
        </p:spPr>
      </p:sp>
      <p:sp>
        <p:nvSpPr>
          <p:cNvPr id="4" name="Text 2"/>
          <p:cNvSpPr txBox="1"/>
          <p:nvPr/>
        </p:nvSpPr>
        <p:spPr>
          <a:xfrm>
            <a:off x="914400" y="1874520"/>
            <a:ext cx="2926080" cy="457200"/>
          </a:xfrm>
          <a:prstGeom prst="rect">
            <a:avLst/>
          </a:prstGeom>
          <a:noFill/>
          <a:ln/>
        </p:spPr>
        <p:txBody>
          <a:bodyPr wrap="square" lIns="0" tIns="0" rIns="0" bIns="0" rtlCol="0" anchor="t"/>
          <a:lstStyle/>
          <a:p>
            <a:pPr indent="0" marL="0">
              <a:buNone/>
            </a:pPr>
            <a:r>
              <a:rPr lang="en-US" sz="2000" b="1" dirty="0">
                <a:solidFill>
                  <a:schemeClr val="bg1"/>
                </a:solidFill>
              </a:rPr>
              <a:t>MVP · now</a:t>
            </a:r>
            <a:endParaRPr lang="en-US" sz="2000" dirty="0"/>
          </a:p>
        </p:txBody>
      </p:sp>
      <p:sp>
        <p:nvSpPr>
          <p:cNvPr id="5" name="Text 3"/>
          <p:cNvSpPr txBox="1"/>
          <p:nvPr/>
        </p:nvSpPr>
        <p:spPr>
          <a:xfrm>
            <a:off x="914400" y="2423160"/>
            <a:ext cx="2926080" cy="1005840"/>
          </a:xfrm>
          <a:prstGeom prst="rect">
            <a:avLst/>
          </a:prstGeom>
          <a:noFill/>
          <a:ln/>
        </p:spPr>
        <p:txBody>
          <a:bodyPr wrap="square" lIns="0" tIns="0" rIns="0" bIns="0" rtlCol="0" anchor="t"/>
          <a:lstStyle/>
          <a:p>
            <a:pPr indent="0" marL="0">
              <a:buNone/>
            </a:pPr>
            <a:r>
              <a:rPr lang="en-US" sz="1500" dirty="0">
                <a:solidFill>
                  <a:schemeClr val="bg1"/>
                </a:solidFill>
              </a:rPr>
              <a:t>One PM, mock data; radar, brief, actions; usability test with 5 PMs</a:t>
            </a:r>
            <a:endParaRPr lang="en-US" sz="1500" dirty="0"/>
          </a:p>
        </p:txBody>
      </p:sp>
      <p:sp>
        <p:nvSpPr>
          <p:cNvPr id="6" name="Text 4"/>
          <p:cNvSpPr txBox="1"/>
          <p:nvPr/>
        </p:nvSpPr>
        <p:spPr>
          <a:xfrm>
            <a:off x="914400" y="3520440"/>
            <a:ext cx="2926080" cy="548640"/>
          </a:xfrm>
          <a:prstGeom prst="rect">
            <a:avLst/>
          </a:prstGeom>
          <a:noFill/>
          <a:ln/>
        </p:spPr>
        <p:txBody>
          <a:bodyPr wrap="square" lIns="0" tIns="0" rIns="0" bIns="0" rtlCol="0" anchor="t"/>
          <a:lstStyle/>
          <a:p>
            <a:pPr indent="0" marL="0">
              <a:buNone/>
            </a:pPr>
            <a:r>
              <a:rPr lang="en-US" sz="1300" dirty="0">
                <a:solidFill>
                  <a:schemeClr val="accent2"/>
                </a:solidFill>
              </a:rPr>
              <a:t>Gate: SUS ≥ 75 · task success ≥ 90%</a:t>
            </a:r>
            <a:endParaRPr lang="en-US" sz="1300" dirty="0"/>
          </a:p>
        </p:txBody>
      </p:sp>
      <p:sp>
        <p:nvSpPr>
          <p:cNvPr id="7" name="phase V2 · pilot"/>
          <p:cNvSpPr/>
          <p:nvPr/>
        </p:nvSpPr>
        <p:spPr>
          <a:xfrm>
            <a:off x="4343400" y="1691640"/>
            <a:ext cx="3474720" cy="2514600"/>
          </a:xfrm>
          <a:prstGeom prst="roundRect">
            <a:avLst>
              <a:gd name="adj" fmla="val 4364"/>
            </a:avLst>
          </a:prstGeom>
          <a:solidFill>
            <a:srgbClr val="17393F"/>
          </a:solidFill>
          <a:ln/>
        </p:spPr>
      </p:sp>
      <p:sp>
        <p:nvSpPr>
          <p:cNvPr id="8" name="Text 6"/>
          <p:cNvSpPr txBox="1"/>
          <p:nvPr/>
        </p:nvSpPr>
        <p:spPr>
          <a:xfrm>
            <a:off x="4617720" y="1874520"/>
            <a:ext cx="2926080" cy="457200"/>
          </a:xfrm>
          <a:prstGeom prst="rect">
            <a:avLst/>
          </a:prstGeom>
          <a:noFill/>
          <a:ln/>
        </p:spPr>
        <p:txBody>
          <a:bodyPr wrap="square" lIns="0" tIns="0" rIns="0" bIns="0" rtlCol="0" anchor="t"/>
          <a:lstStyle/>
          <a:p>
            <a:pPr indent="0" marL="0">
              <a:buNone/>
            </a:pPr>
            <a:r>
              <a:rPr lang="en-US" sz="2000" b="1" dirty="0">
                <a:solidFill>
                  <a:schemeClr val="accent3"/>
                </a:solidFill>
              </a:rPr>
              <a:t>V2 · pilot</a:t>
            </a:r>
            <a:endParaRPr lang="en-US" sz="2000" dirty="0"/>
          </a:p>
        </p:txBody>
      </p:sp>
      <p:sp>
        <p:nvSpPr>
          <p:cNvPr id="9" name="Text 7"/>
          <p:cNvSpPr txBox="1"/>
          <p:nvPr/>
        </p:nvSpPr>
        <p:spPr>
          <a:xfrm>
            <a:off x="4617720" y="2423160"/>
            <a:ext cx="2926080" cy="1005840"/>
          </a:xfrm>
          <a:prstGeom prst="rect">
            <a:avLst/>
          </a:prstGeom>
          <a:noFill/>
          <a:ln/>
        </p:spPr>
        <p:txBody>
          <a:bodyPr wrap="square" lIns="0" tIns="0" rIns="0" bIns="0" rtlCol="0" anchor="t"/>
          <a:lstStyle/>
          <a:p>
            <a:pPr indent="0" marL="0">
              <a:buNone/>
            </a:pPr>
            <a:r>
              <a:rPr lang="en-US" sz="1500" dirty="0">
                <a:solidFill>
                  <a:schemeClr val="bg1"/>
                </a:solidFill>
              </a:rPr>
              <a:t>One startup on live read-only data; write-back; slot suggestions</a:t>
            </a:r>
            <a:endParaRPr lang="en-US" sz="1500" dirty="0"/>
          </a:p>
        </p:txBody>
      </p:sp>
      <p:sp>
        <p:nvSpPr>
          <p:cNvPr id="10" name="Text 8"/>
          <p:cNvSpPr txBox="1"/>
          <p:nvPr/>
        </p:nvSpPr>
        <p:spPr>
          <a:xfrm>
            <a:off x="4617720" y="3520440"/>
            <a:ext cx="2926080" cy="548640"/>
          </a:xfrm>
          <a:prstGeom prst="rect">
            <a:avLst/>
          </a:prstGeom>
          <a:noFill/>
          <a:ln/>
        </p:spPr>
        <p:txBody>
          <a:bodyPr wrap="square" lIns="0" tIns="0" rIns="0" bIns="0" rtlCol="0" anchor="t"/>
          <a:lstStyle/>
          <a:p>
            <a:pPr indent="0" marL="0">
              <a:buNone/>
            </a:pPr>
            <a:r>
              <a:rPr lang="en-US" sz="1300" dirty="0">
                <a:solidFill>
                  <a:schemeClr val="accent2"/>
                </a:solidFill>
              </a:rPr>
              <a:t>Gate: clarity &lt; 5 min · missed P1 &lt; 5%</a:t>
            </a:r>
            <a:endParaRPr lang="en-US" sz="1300" dirty="0"/>
          </a:p>
        </p:txBody>
      </p:sp>
      <p:sp>
        <p:nvSpPr>
          <p:cNvPr id="11" name="phase V3 · scale"/>
          <p:cNvSpPr/>
          <p:nvPr/>
        </p:nvSpPr>
        <p:spPr>
          <a:xfrm>
            <a:off x="8046720" y="1691640"/>
            <a:ext cx="3474720" cy="2514600"/>
          </a:xfrm>
          <a:prstGeom prst="roundRect">
            <a:avLst>
              <a:gd name="adj" fmla="val 4364"/>
            </a:avLst>
          </a:prstGeom>
          <a:solidFill>
            <a:srgbClr val="17393F"/>
          </a:solidFill>
          <a:ln/>
        </p:spPr>
      </p:sp>
      <p:sp>
        <p:nvSpPr>
          <p:cNvPr id="12" name="Text 10"/>
          <p:cNvSpPr txBox="1"/>
          <p:nvPr/>
        </p:nvSpPr>
        <p:spPr>
          <a:xfrm>
            <a:off x="8321040" y="1874520"/>
            <a:ext cx="2926080" cy="457200"/>
          </a:xfrm>
          <a:prstGeom prst="rect">
            <a:avLst/>
          </a:prstGeom>
          <a:noFill/>
          <a:ln/>
        </p:spPr>
        <p:txBody>
          <a:bodyPr wrap="square" lIns="0" tIns="0" rIns="0" bIns="0" rtlCol="0" anchor="t"/>
          <a:lstStyle/>
          <a:p>
            <a:pPr indent="0" marL="0">
              <a:buNone/>
            </a:pPr>
            <a:r>
              <a:rPr lang="en-US" sz="2000" b="1" dirty="0">
                <a:solidFill>
                  <a:schemeClr val="accent3"/>
                </a:solidFill>
              </a:rPr>
              <a:t>V3 · scale</a:t>
            </a:r>
            <a:endParaRPr lang="en-US" sz="2000" dirty="0"/>
          </a:p>
        </p:txBody>
      </p:sp>
      <p:sp>
        <p:nvSpPr>
          <p:cNvPr id="13" name="Text 11"/>
          <p:cNvSpPr txBox="1"/>
          <p:nvPr/>
        </p:nvSpPr>
        <p:spPr>
          <a:xfrm>
            <a:off x="8321040" y="2423160"/>
            <a:ext cx="2926080" cy="1005840"/>
          </a:xfrm>
          <a:prstGeom prst="rect">
            <a:avLst/>
          </a:prstGeom>
          <a:noFill/>
          <a:ln/>
        </p:spPr>
        <p:txBody>
          <a:bodyPr wrap="square" lIns="0" tIns="0" rIns="0" bIns="0" rtlCol="0" anchor="t"/>
          <a:lstStyle/>
          <a:p>
            <a:pPr indent="0" marL="0">
              <a:buNone/>
            </a:pPr>
            <a:r>
              <a:rPr lang="en-US" sz="1500" dirty="0">
                <a:solidFill>
                  <a:schemeClr val="bg1"/>
                </a:solidFill>
              </a:rPr>
              <a:t>50–250-person teams; multi-PM and founder views; Teams and Outlook</a:t>
            </a:r>
            <a:endParaRPr lang="en-US" sz="1500" dirty="0"/>
          </a:p>
        </p:txBody>
      </p:sp>
      <p:sp>
        <p:nvSpPr>
          <p:cNvPr id="14" name="Text 12"/>
          <p:cNvSpPr txBox="1"/>
          <p:nvPr/>
        </p:nvSpPr>
        <p:spPr>
          <a:xfrm>
            <a:off x="8321040" y="3520440"/>
            <a:ext cx="2926080" cy="548640"/>
          </a:xfrm>
          <a:prstGeom prst="rect">
            <a:avLst/>
          </a:prstGeom>
          <a:noFill/>
          <a:ln/>
        </p:spPr>
        <p:txBody>
          <a:bodyPr wrap="square" lIns="0" tIns="0" rIns="0" bIns="0" rtlCol="0" anchor="t"/>
          <a:lstStyle/>
          <a:p>
            <a:pPr indent="0" marL="0">
              <a:buNone/>
            </a:pPr>
            <a:r>
              <a:rPr lang="en-US" sz="1300" dirty="0">
                <a:solidFill>
                  <a:schemeClr val="accent2"/>
                </a:solidFill>
              </a:rPr>
              <a:t>Gate: paying teams retained 3 months</a:t>
            </a:r>
            <a:endParaRPr lang="en-US" sz="1300" dirty="0"/>
          </a:p>
        </p:txBody>
      </p:sp>
      <p:sp>
        <p:nvSpPr>
          <p:cNvPr id="15" name="Text 13"/>
          <p:cNvSpPr txBox="1"/>
          <p:nvPr/>
        </p:nvSpPr>
        <p:spPr>
          <a:xfrm>
            <a:off x="640080" y="4526280"/>
            <a:ext cx="5486400" cy="73152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Thank you</a:t>
            </a:r>
            <a:endParaRPr lang="en-US" sz="3400" dirty="0"/>
          </a:p>
        </p:txBody>
      </p:sp>
      <p:sp>
        <p:nvSpPr>
          <p:cNvPr id="16" name="Text 14"/>
          <p:cNvSpPr txBox="1"/>
          <p:nvPr/>
        </p:nvSpPr>
        <p:spPr>
          <a:xfrm>
            <a:off x="640080" y="5257800"/>
            <a:ext cx="10515600" cy="731520"/>
          </a:xfrm>
          <a:prstGeom prst="rect">
            <a:avLst/>
          </a:prstGeom>
          <a:noFill/>
          <a:ln/>
        </p:spPr>
        <p:txBody>
          <a:bodyPr wrap="square" lIns="0" tIns="0" rIns="0" bIns="0" rtlCol="0" anchor="t"/>
          <a:lstStyle/>
          <a:p>
            <a:pPr indent="0" marL="0">
              <a:buNone/>
            </a:pPr>
            <a:r>
              <a:rPr lang="en-US" sz="1600" b="1" dirty="0">
                <a:solidFill>
                  <a:schemeClr val="accent3"/>
                </a:solidFill>
              </a:rPr>
              <a:t>Gopi Krishna  ·  Cohort 40  ·  AIR Tribe AIPM</a:t>
            </a:r>
            <a:endParaRPr lang="en-US" sz="1400" dirty="0"/>
          </a:p>
          <a:p>
            <a:pPr indent="0" marL="0">
              <a:buNone/>
            </a:pPr>
            <a:r>
              <a:rPr lang="en-US" sz="1300" dirty="0">
                <a:solidFill>
                  <a:srgbClr val="C7DDD9"/>
                </a:solidFill>
              </a:rPr>
              <a:t>Deliverables: PRD · AI Workflow · UI/UX spec and Stitch designs · live MVP and source code</a:t>
            </a:r>
            <a:endParaRPr lang="en-US" sz="1400" dirty="0"/>
          </a:p>
        </p:txBody>
      </p:sp>
      <p:sp>
        <p:nvSpPr>
          <p:cNvPr id="17" name="radar ring 1"/>
          <p:cNvSpPr/>
          <p:nvPr/>
        </p:nvSpPr>
        <p:spPr>
          <a:xfrm>
            <a:off x="9829800" y="4297680"/>
            <a:ext cx="1554480" cy="1554480"/>
          </a:xfrm>
          <a:prstGeom prst="ellipse">
            <a:avLst/>
          </a:prstGeom>
          <a:ln w="31750">
            <a:solidFill>
              <a:schemeClr val="accent3">
                <a:alpha val="60000"/>
              </a:schemeClr>
            </a:solidFill>
            <a:prstDash val="solid"/>
          </a:ln>
        </p:spPr>
      </p:sp>
      <p:sp>
        <p:nvSpPr>
          <p:cNvPr id="18" name="radar ring 2"/>
          <p:cNvSpPr/>
          <p:nvPr/>
        </p:nvSpPr>
        <p:spPr>
          <a:xfrm>
            <a:off x="10047427" y="4515307"/>
            <a:ext cx="1119226" cy="1119226"/>
          </a:xfrm>
          <a:prstGeom prst="ellipse">
            <a:avLst/>
          </a:prstGeom>
          <a:ln w="19050">
            <a:solidFill>
              <a:schemeClr val="accent3">
                <a:alpha val="48000"/>
              </a:schemeClr>
            </a:solidFill>
            <a:prstDash val="solid"/>
          </a:ln>
        </p:spPr>
      </p:sp>
      <p:sp>
        <p:nvSpPr>
          <p:cNvPr id="19" name="radar ring 3"/>
          <p:cNvSpPr/>
          <p:nvPr/>
        </p:nvSpPr>
        <p:spPr>
          <a:xfrm>
            <a:off x="10265054" y="4732934"/>
            <a:ext cx="683971" cy="683971"/>
          </a:xfrm>
          <a:prstGeom prst="ellipse">
            <a:avLst/>
          </a:prstGeom>
          <a:ln w="19050">
            <a:solidFill>
              <a:schemeClr val="accent3">
                <a:alpha val="36000"/>
              </a:schemeClr>
            </a:solidFill>
            <a:prstDash val="solid"/>
          </a:ln>
        </p:spPr>
      </p:sp>
      <p:sp>
        <p:nvSpPr>
          <p:cNvPr id="20" name="radar sweep"/>
          <p:cNvSpPr/>
          <p:nvPr/>
        </p:nvSpPr>
        <p:spPr>
          <a:xfrm flipV="1">
            <a:off x="10607040" y="4593031"/>
            <a:ext cx="481889" cy="481889"/>
          </a:xfrm>
          <a:prstGeom prst="line">
            <a:avLst/>
          </a:prstGeom>
          <a:noFill/>
          <a:ln w="31750">
            <a:solidFill>
              <a:schemeClr val="accent3">
                <a:alpha val="60000"/>
              </a:schemeClr>
            </a:solidFill>
            <a:prstDash val="solid"/>
          </a:ln>
        </p:spPr>
      </p:sp>
      <p:sp>
        <p:nvSpPr>
          <p:cNvPr id="21" name="radar blip"/>
          <p:cNvSpPr/>
          <p:nvPr/>
        </p:nvSpPr>
        <p:spPr>
          <a:xfrm>
            <a:off x="10840212" y="5168189"/>
            <a:ext cx="201168" cy="201168"/>
          </a:xfrm>
          <a:prstGeom prst="ellipse">
            <a:avLst/>
          </a:prstGeom>
          <a:solidFill>
            <a:schemeClr val="accent2"/>
          </a:solidFill>
          <a:ln/>
        </p:spPr>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9C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WorkRadar Teal">
  <a:themeElements>
    <a:clrScheme name="WorkRadar Teal">
      <a:dk1>
        <a:srgbClr val="13222A"/>
      </a:dk1>
      <a:lt1>
        <a:srgbClr val="FFFFFF"/>
      </a:lt1>
      <a:dk2>
        <a:srgbClr val="0E2A2F"/>
      </a:dk2>
      <a:lt2>
        <a:srgbClr val="EEF6F4"/>
      </a:lt2>
      <a:accent1>
        <a:srgbClr val="0F766E"/>
      </a:accent1>
      <a:accent2>
        <a:srgbClr val="F59E0B"/>
      </a:accent2>
      <a:accent3>
        <a:srgbClr val="2DD4BF"/>
      </a:accent3>
      <a:accent4>
        <a:srgbClr val="D92D20"/>
      </a:accent4>
      <a:accent5>
        <a:srgbClr val="C4320A"/>
      </a:accent5>
      <a:accent6>
        <a:srgbClr val="5B6B70"/>
      </a:accent6>
      <a:hlink>
        <a:srgbClr val="0F766E"/>
      </a:hlink>
      <a:folHlink>
        <a:srgbClr val="0B5D57"/>
      </a:folHlink>
    </a:clrScheme>
    <a:fontScheme name="WorkRadar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AIR Tribe AIPM Cohort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WorkRadar — Product Presentation</dc:title>
  <dc:subject>PptxGenJS Presentation</dc:subject>
  <dc:creator>Gopi Krishna</dc:creator>
  <cp:lastModifiedBy>Gopi Krishna</cp:lastModifiedBy>
  <cp:revision>1</cp:revision>
  <dcterms:created xsi:type="dcterms:W3CDTF">2026-10-27T18:16:38Z</dcterms:created>
  <dcterms:modified xsi:type="dcterms:W3CDTF">2026-10-27T18:16:38Z</dcterms:modified>
</cp:coreProperties>
</file>